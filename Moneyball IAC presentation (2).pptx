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18"/>
  </p:notesMasterIdLst>
  <p:sldIdLst>
    <p:sldId id="287" r:id="rId3"/>
    <p:sldId id="3063" r:id="rId4"/>
    <p:sldId id="274" r:id="rId5"/>
    <p:sldId id="3068" r:id="rId6"/>
    <p:sldId id="281" r:id="rId7"/>
    <p:sldId id="288" r:id="rId8"/>
    <p:sldId id="3067" r:id="rId9"/>
    <p:sldId id="3060" r:id="rId10"/>
    <p:sldId id="3061" r:id="rId11"/>
    <p:sldId id="3069" r:id="rId12"/>
    <p:sldId id="3065" r:id="rId13"/>
    <p:sldId id="276" r:id="rId14"/>
    <p:sldId id="3062" r:id="rId15"/>
    <p:sldId id="273" r:id="rId16"/>
    <p:sldId id="3070" r:id="rId17"/>
  </p:sldIdLst>
  <p:sldSz cx="18288000" cy="10287000"/>
  <p:notesSz cx="6858000" cy="9144000"/>
  <p:embeddedFontLst>
    <p:embeddedFont>
      <p:font typeface="Cambria Math" panose="02040503050406030204" pitchFamily="18" charset="0"/>
      <p:regular r:id="rId19"/>
    </p:embeddedFont>
    <p:embeddedFont>
      <p:font typeface="CMU Sans Serif" panose="02000603000000000000" pitchFamily="2" charset="0"/>
      <p:regular r:id="rId20"/>
      <p:bold r:id="rId21"/>
      <p:italic r:id="rId22"/>
      <p:boldItalic r:id="rId23"/>
    </p:embeddedFont>
    <p:embeddedFont>
      <p:font typeface="CMU Serif" panose="02000603000000000000" pitchFamily="2" charset="0"/>
      <p:regular r:id="rId24"/>
      <p:bold r:id="rId25"/>
      <p:italic r:id="rId26"/>
      <p:boldItalic r:id="rId27"/>
    </p:embeddedFont>
    <p:embeddedFont>
      <p:font typeface="Prompt Light" panose="00000400000000000000" pitchFamily="2" charset="-34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9" roundtripDataSignature="AMtx7mg1WX/2SoE5JyAMIM1A4HU5gPJJ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20"/>
    <a:srgbClr val="7030A0"/>
    <a:srgbClr val="006600"/>
    <a:srgbClr val="003300"/>
    <a:srgbClr val="336600"/>
    <a:srgbClr val="339933"/>
    <a:srgbClr val="00FF99"/>
    <a:srgbClr val="3F1072"/>
    <a:srgbClr val="6CBFD9"/>
    <a:srgbClr val="9494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F707FA4-497D-4B94-9F3D-EEF35364F291}">
  <a:tblStyle styleId="{7F707FA4-497D-4B94-9F3D-EEF35364F2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0BC3161-2AD8-41F0-8FDD-4FD1068D1A9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405" y="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49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6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E" sz="11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You may recognise this classic cost allocation and cost spending behaviour. Quite typical of space projects.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E" sz="11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Early design decisions = big cost impact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IE" sz="1100" dirty="0">
              <a:solidFill>
                <a:schemeClr val="bg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E" sz="11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Focus on design in Phase 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9506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1972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dirty="0"/>
              <a:t>They are early design decisions with a big performance impact.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dirty="0"/>
              <a:t>Houbolt Questions named after this guy who during the early Apollo program was responsible for the choice of Lunar Orbit </a:t>
            </a:r>
            <a:r>
              <a:rPr lang="en-IE" dirty="0" err="1"/>
              <a:t>Rendez-vous</a:t>
            </a:r>
            <a:endParaRPr lang="en-I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dirty="0"/>
              <a:t>The term Houbolt Question appears sometimes in the literature,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dirty="0"/>
              <a:t>but has never been elaborated or developed into a concept for modelling missions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dirty="0"/>
              <a:t>Which is what I have decided to do.</a:t>
            </a:r>
            <a:endParaRPr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361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dirty="0"/>
              <a:t>What space is set as the </a:t>
            </a:r>
            <a:r>
              <a:rPr lang="en-IE" dirty="0" err="1"/>
              <a:t>inThe</a:t>
            </a:r>
            <a:r>
              <a:rPr lang="en-IE" dirty="0"/>
              <a:t> constructor makes the solutions space from all of the combinations of the How questions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dirty="0"/>
              <a:t>The solution space is a subset of the Design space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dirty="0"/>
              <a:t>It should encompass as much of the Desgin space as possible, but it is limited.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dirty="0"/>
              <a:t>So that’s how we model the design space, now lets see how to evaluate it.</a:t>
            </a:r>
            <a:endParaRPr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8360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dirty="0"/>
              <a:t>You can size the mass of the spacecraft using the delta V </a:t>
            </a:r>
            <a:r>
              <a:rPr lang="en-IE" dirty="0" err="1"/>
              <a:t>nd</a:t>
            </a:r>
            <a:r>
              <a:rPr lang="en-IE" dirty="0"/>
              <a:t> the payload mass which are available information in the Houbolt </a:t>
            </a:r>
            <a:r>
              <a:rPr lang="en-IE" dirty="0" err="1"/>
              <a:t>Quesitons</a:t>
            </a:r>
            <a:endParaRPr dirty="0"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2748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dirty="0"/>
              <a:t>You can size the mass of the spacecraft using the delta V </a:t>
            </a:r>
            <a:r>
              <a:rPr lang="en-IE" dirty="0" err="1"/>
              <a:t>nd</a:t>
            </a:r>
            <a:r>
              <a:rPr lang="en-IE" dirty="0"/>
              <a:t> the payload mass which are available information in the Houbolt </a:t>
            </a:r>
            <a:r>
              <a:rPr lang="en-IE" dirty="0" err="1"/>
              <a:t>Quesitons</a:t>
            </a:r>
            <a:endParaRPr dirty="0"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5121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7456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Restricted</a:t>
            </a:r>
            <a:endParaRPr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6779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Conclude</a:t>
            </a:r>
            <a:r>
              <a:rPr lang="fr-FR" dirty="0"/>
              <a:t> </a:t>
            </a:r>
            <a:r>
              <a:rPr lang="fr-FR" dirty="0" err="1"/>
              <a:t>here</a:t>
            </a:r>
            <a:r>
              <a:rPr lang="fr-F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 - Can use Houbolt questions to model the design </a:t>
            </a:r>
            <a:r>
              <a:rPr lang="fr-FR" dirty="0" err="1"/>
              <a:t>space</a:t>
            </a:r>
            <a:r>
              <a:rPr lang="fr-FR" dirty="0"/>
              <a:t> and </a:t>
            </a:r>
            <a:r>
              <a:rPr lang="fr-FR" dirty="0" err="1"/>
              <a:t>there</a:t>
            </a:r>
            <a:r>
              <a:rPr lang="fr-FR" dirty="0"/>
              <a:t> are </a:t>
            </a:r>
            <a:r>
              <a:rPr lang="fr-FR" dirty="0" err="1"/>
              <a:t>MERs</a:t>
            </a:r>
            <a:r>
              <a:rPr lang="fr-FR" dirty="0"/>
              <a:t> and </a:t>
            </a:r>
            <a:r>
              <a:rPr lang="fr-FR" dirty="0" err="1"/>
              <a:t>CERs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can </a:t>
            </a:r>
            <a:r>
              <a:rPr lang="fr-FR" dirty="0" err="1"/>
              <a:t>evaluate</a:t>
            </a:r>
            <a:r>
              <a:rPr lang="fr-FR" dirty="0"/>
              <a:t> the design </a:t>
            </a:r>
            <a:r>
              <a:rPr lang="fr-FR" dirty="0" err="1"/>
              <a:t>space</a:t>
            </a:r>
            <a:r>
              <a:rPr lang="fr-F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 - Will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increase</a:t>
            </a:r>
            <a:r>
              <a:rPr lang="fr-FR" dirty="0"/>
              <a:t> the scope of the questions to model more missions</a:t>
            </a:r>
            <a:endParaRPr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7127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Conclude</a:t>
            </a:r>
            <a:r>
              <a:rPr lang="fr-FR" dirty="0"/>
              <a:t> </a:t>
            </a:r>
            <a:r>
              <a:rPr lang="fr-FR" dirty="0" err="1"/>
              <a:t>here</a:t>
            </a:r>
            <a:r>
              <a:rPr lang="fr-F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 - Can use Houbolt questions to model the design </a:t>
            </a:r>
            <a:r>
              <a:rPr lang="fr-FR" dirty="0" err="1"/>
              <a:t>space</a:t>
            </a:r>
            <a:r>
              <a:rPr lang="fr-FR" dirty="0"/>
              <a:t> and </a:t>
            </a:r>
            <a:r>
              <a:rPr lang="fr-FR" dirty="0" err="1"/>
              <a:t>there</a:t>
            </a:r>
            <a:r>
              <a:rPr lang="fr-FR" dirty="0"/>
              <a:t> are </a:t>
            </a:r>
            <a:r>
              <a:rPr lang="fr-FR" dirty="0" err="1"/>
              <a:t>MERs</a:t>
            </a:r>
            <a:r>
              <a:rPr lang="fr-FR" dirty="0"/>
              <a:t> and </a:t>
            </a:r>
            <a:r>
              <a:rPr lang="fr-FR" dirty="0" err="1"/>
              <a:t>CERs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can </a:t>
            </a:r>
            <a:r>
              <a:rPr lang="fr-FR" dirty="0" err="1"/>
              <a:t>evaluate</a:t>
            </a:r>
            <a:r>
              <a:rPr lang="fr-FR" dirty="0"/>
              <a:t> the design </a:t>
            </a:r>
            <a:r>
              <a:rPr lang="fr-FR" dirty="0" err="1"/>
              <a:t>space</a:t>
            </a:r>
            <a:r>
              <a:rPr lang="fr-F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 - Will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increase</a:t>
            </a:r>
            <a:r>
              <a:rPr lang="fr-FR" dirty="0"/>
              <a:t> the scope of the questions to model more missions</a:t>
            </a:r>
            <a:endParaRPr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3355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86630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10294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Conclude</a:t>
            </a:r>
            <a:r>
              <a:rPr lang="fr-FR" dirty="0"/>
              <a:t> </a:t>
            </a:r>
            <a:r>
              <a:rPr lang="fr-FR" dirty="0" err="1"/>
              <a:t>here</a:t>
            </a:r>
            <a:r>
              <a:rPr lang="fr-F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 - Can use Houbolt questions to model the design </a:t>
            </a:r>
            <a:r>
              <a:rPr lang="fr-FR" dirty="0" err="1"/>
              <a:t>space</a:t>
            </a:r>
            <a:r>
              <a:rPr lang="fr-FR" dirty="0"/>
              <a:t> and </a:t>
            </a:r>
            <a:r>
              <a:rPr lang="fr-FR" dirty="0" err="1"/>
              <a:t>there</a:t>
            </a:r>
            <a:r>
              <a:rPr lang="fr-FR" dirty="0"/>
              <a:t> are </a:t>
            </a:r>
            <a:r>
              <a:rPr lang="fr-FR" dirty="0" err="1"/>
              <a:t>MERs</a:t>
            </a:r>
            <a:r>
              <a:rPr lang="fr-FR" dirty="0"/>
              <a:t> and </a:t>
            </a:r>
            <a:r>
              <a:rPr lang="fr-FR" dirty="0" err="1"/>
              <a:t>CERs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can </a:t>
            </a:r>
            <a:r>
              <a:rPr lang="fr-FR" dirty="0" err="1"/>
              <a:t>evaluate</a:t>
            </a:r>
            <a:r>
              <a:rPr lang="fr-FR" dirty="0"/>
              <a:t> the design </a:t>
            </a:r>
            <a:r>
              <a:rPr lang="fr-FR" dirty="0" err="1"/>
              <a:t>space</a:t>
            </a:r>
            <a:r>
              <a:rPr lang="fr-F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 - Will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increase</a:t>
            </a:r>
            <a:r>
              <a:rPr lang="fr-FR" dirty="0"/>
              <a:t> the scope of the questions to model more missions</a:t>
            </a:r>
            <a:endParaRPr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2052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6397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0812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78441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8484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9751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75995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62409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3693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4984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75762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4359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241604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emf"/><Relationship Id="rId4" Type="http://schemas.openxmlformats.org/officeDocument/2006/relationships/package" Target="../embeddings/Microsoft_Excel_Worksheet.xls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news.bbc.co.uk/2/hi/science/nature/8442090.st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ourworldindata.org/grapher/cost-space-launches-low-earth-orbit?time=2001..latest" TargetMode="External"/><Relationship Id="rId4" Type="http://schemas.openxmlformats.org/officeDocument/2006/relationships/hyperlink" Target="https://goldprice.org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2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1754742">
            <a:off x="-13397103" y="166729"/>
            <a:ext cx="26398651" cy="19487005"/>
          </a:xfrm>
          <a:custGeom>
            <a:avLst/>
            <a:gdLst/>
            <a:ahLst/>
            <a:cxnLst/>
            <a:rect l="l" t="t" r="r" b="b"/>
            <a:pathLst>
              <a:path w="26398651" h="19487005" extrusionOk="0">
                <a:moveTo>
                  <a:pt x="0" y="0"/>
                </a:moveTo>
                <a:lnTo>
                  <a:pt x="26398651" y="0"/>
                </a:lnTo>
                <a:lnTo>
                  <a:pt x="26398651" y="19487004"/>
                </a:lnTo>
                <a:lnTo>
                  <a:pt x="0" y="194870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120588" y="1445250"/>
            <a:ext cx="1340798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36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120588" y="2292883"/>
            <a:ext cx="16138712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Moneyball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  <a:sym typeface="Arial"/>
            </a:endParaRPr>
          </a:p>
        </p:txBody>
      </p:sp>
      <p:sp>
        <p:nvSpPr>
          <p:cNvPr id="5" name="Google Shape;89;p1">
            <a:extLst>
              <a:ext uri="{FF2B5EF4-FFF2-40B4-BE49-F238E27FC236}">
                <a16:creationId xmlns:a16="http://schemas.microsoft.com/office/drawing/2014/main" id="{79AEABFA-E4BF-1A6A-01F4-B0882194CB04}"/>
              </a:ext>
            </a:extLst>
          </p:cNvPr>
          <p:cNvSpPr txBox="1"/>
          <p:nvPr/>
        </p:nvSpPr>
        <p:spPr>
          <a:xfrm>
            <a:off x="1120588" y="3800022"/>
            <a:ext cx="16138712" cy="1883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Finding Low-Cost Mission Architectures By Design Space Exploration Using Houbolt Questions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3200" b="1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18/10/2024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</a:br>
            <a:endParaRPr kumimoji="0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  <a:sym typeface="Arial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090F4C6-97EF-C8F2-44D6-C9FE97F391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33"/>
          <a:stretch/>
        </p:blipFill>
        <p:spPr>
          <a:xfrm rot="5400000">
            <a:off x="-3180106" y="3176163"/>
            <a:ext cx="10290943" cy="3930733"/>
          </a:xfrm>
          <a:prstGeom prst="rect">
            <a:avLst/>
          </a:prstGeom>
        </p:spPr>
      </p:pic>
      <p:sp>
        <p:nvSpPr>
          <p:cNvPr id="2" name="Google Shape;404;p18">
            <a:extLst>
              <a:ext uri="{FF2B5EF4-FFF2-40B4-BE49-F238E27FC236}">
                <a16:creationId xmlns:a16="http://schemas.microsoft.com/office/drawing/2014/main" id="{E156C479-2BB4-D776-3234-5F790B1A5D4F}"/>
              </a:ext>
            </a:extLst>
          </p:cNvPr>
          <p:cNvSpPr/>
          <p:nvPr/>
        </p:nvSpPr>
        <p:spPr>
          <a:xfrm>
            <a:off x="13561011" y="8365907"/>
            <a:ext cx="2518299" cy="1526088"/>
          </a:xfrm>
          <a:custGeom>
            <a:avLst/>
            <a:gdLst/>
            <a:ahLst/>
            <a:cxnLst/>
            <a:rect l="l" t="t" r="r" b="b"/>
            <a:pathLst>
              <a:path w="1712453" h="1037746" extrusionOk="0">
                <a:moveTo>
                  <a:pt x="0" y="0"/>
                </a:moveTo>
                <a:lnTo>
                  <a:pt x="1712453" y="0"/>
                </a:lnTo>
                <a:lnTo>
                  <a:pt x="1712453" y="1037747"/>
                </a:lnTo>
                <a:lnTo>
                  <a:pt x="0" y="1037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CF01C46C-52F5-4DE7-EB9E-0C3F318AD0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65820" y="7375747"/>
            <a:ext cx="1822180" cy="26922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20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17131197" y="9572211"/>
            <a:ext cx="6805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E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mpt Light"/>
                <a:ea typeface="Prompt Light"/>
                <a:cs typeface="Prompt Light"/>
                <a:sym typeface="Prompt Light"/>
              </a:rPr>
              <a:t>2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mpt Light"/>
              <a:ea typeface="Prompt Light"/>
              <a:cs typeface="Prompt Light"/>
              <a:sym typeface="Prompt Light"/>
            </a:endParaRPr>
          </a:p>
        </p:txBody>
      </p:sp>
      <p:sp>
        <p:nvSpPr>
          <p:cNvPr id="2" name="Google Shape;96;p2">
            <a:extLst>
              <a:ext uri="{FF2B5EF4-FFF2-40B4-BE49-F238E27FC236}">
                <a16:creationId xmlns:a16="http://schemas.microsoft.com/office/drawing/2014/main" id="{321F7C6F-EBC7-E72B-7905-73A374A15A4C}"/>
              </a:ext>
            </a:extLst>
          </p:cNvPr>
          <p:cNvSpPr txBox="1"/>
          <p:nvPr/>
        </p:nvSpPr>
        <p:spPr>
          <a:xfrm>
            <a:off x="998220" y="838047"/>
            <a:ext cx="16102497" cy="1300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81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Space System Design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  <a:sym typeface="Arial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2EDEE974-4A4D-5637-C086-8F88D675B43C}"/>
              </a:ext>
            </a:extLst>
          </p:cNvPr>
          <p:cNvCxnSpPr/>
          <p:nvPr/>
        </p:nvCxnSpPr>
        <p:spPr>
          <a:xfrm>
            <a:off x="858983" y="2008909"/>
            <a:ext cx="1609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CD325D1D-7EBA-75B6-162D-94386C100429}"/>
              </a:ext>
            </a:extLst>
          </p:cNvPr>
          <p:cNvSpPr txBox="1"/>
          <p:nvPr/>
        </p:nvSpPr>
        <p:spPr>
          <a:xfrm>
            <a:off x="11149882" y="2646400"/>
            <a:ext cx="46235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2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Phase A</a:t>
            </a:r>
          </a:p>
        </p:txBody>
      </p: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36335A46-2510-A872-FFD4-19CF0CF6C0B2}"/>
              </a:ext>
            </a:extLst>
          </p:cNvPr>
          <p:cNvGrpSpPr/>
          <p:nvPr/>
        </p:nvGrpSpPr>
        <p:grpSpPr>
          <a:xfrm>
            <a:off x="858983" y="3003041"/>
            <a:ext cx="9740858" cy="5703000"/>
            <a:chOff x="858983" y="3003041"/>
            <a:chExt cx="9740858" cy="5703000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A58A4AD4-FEBC-8926-1088-EAC6385BB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8221" y="3003041"/>
              <a:ext cx="8083760" cy="5146660"/>
            </a:xfrm>
            <a:prstGeom prst="rect">
              <a:avLst/>
            </a:prstGeom>
          </p:spPr>
        </p:pic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F07DFCB0-F09D-8642-BADA-0DFBE90CBC5A}"/>
                </a:ext>
              </a:extLst>
            </p:cNvPr>
            <p:cNvSpPr txBox="1"/>
            <p:nvPr/>
          </p:nvSpPr>
          <p:spPr>
            <a:xfrm>
              <a:off x="858983" y="8305931"/>
              <a:ext cx="974085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Life-Cycle Cost Impacts from Early Phase Decision-Making [4]</a:t>
              </a:r>
              <a:endParaRPr lang="en-IE" sz="2000" dirty="0">
                <a:solidFill>
                  <a:schemeClr val="bg1">
                    <a:lumMod val="8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4C025038-7E2E-50E9-8CB1-B28D857F959C}"/>
              </a:ext>
            </a:extLst>
          </p:cNvPr>
          <p:cNvSpPr/>
          <p:nvPr/>
        </p:nvSpPr>
        <p:spPr>
          <a:xfrm>
            <a:off x="14888895" y="5673617"/>
            <a:ext cx="2400884" cy="260506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926B887-7D24-44B0-BB5A-FC0296394885}"/>
              </a:ext>
            </a:extLst>
          </p:cNvPr>
          <p:cNvSpPr/>
          <p:nvPr/>
        </p:nvSpPr>
        <p:spPr>
          <a:xfrm>
            <a:off x="2017862" y="4765957"/>
            <a:ext cx="1315888" cy="2384754"/>
          </a:xfrm>
          <a:prstGeom prst="rect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181CFDE5-766A-D904-983A-5A595EF04B75}"/>
              </a:ext>
            </a:extLst>
          </p:cNvPr>
          <p:cNvGrpSpPr/>
          <p:nvPr/>
        </p:nvGrpSpPr>
        <p:grpSpPr>
          <a:xfrm>
            <a:off x="9806737" y="3599084"/>
            <a:ext cx="7309809" cy="5460437"/>
            <a:chOff x="9806737" y="3599084"/>
            <a:chExt cx="7309809" cy="5460437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5CEE722B-E6A1-F0F6-4722-B212A14DFCDE}"/>
                </a:ext>
              </a:extLst>
            </p:cNvPr>
            <p:cNvGrpSpPr/>
            <p:nvPr/>
          </p:nvGrpSpPr>
          <p:grpSpPr>
            <a:xfrm>
              <a:off x="9806737" y="3599084"/>
              <a:ext cx="7309809" cy="4372779"/>
              <a:chOff x="11635516" y="2846210"/>
              <a:chExt cx="4784573" cy="286216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48BA8B3-E298-3612-3468-A4E38E7E5A9D}"/>
                  </a:ext>
                </a:extLst>
              </p:cNvPr>
              <p:cNvSpPr/>
              <p:nvPr/>
            </p:nvSpPr>
            <p:spPr>
              <a:xfrm>
                <a:off x="13183644" y="2846210"/>
                <a:ext cx="1688319" cy="462735"/>
              </a:xfrm>
              <a:prstGeom prst="rect">
                <a:avLst/>
              </a:prstGeom>
              <a:solidFill>
                <a:srgbClr val="3F1072"/>
              </a:solidFill>
              <a:ln>
                <a:solidFill>
                  <a:schemeClr val="bg1">
                    <a:lumMod val="65000"/>
                  </a:schemeClr>
                </a:solidFill>
                <a:miter lim="800000"/>
                <a:extLst>
                  <a:ext uri="{C807C97D-BFC1-408E-A445-0C87EB9F89A2}">
                    <ask:lineSketchStyleProps xmlns:ask="http://schemas.microsoft.com/office/drawing/2018/sketchyshapes" sd="1808761005">
                      <a:custGeom>
                        <a:avLst/>
                        <a:gdLst>
                          <a:gd name="connsiteX0" fmla="*/ 0 w 1688319"/>
                          <a:gd name="connsiteY0" fmla="*/ 0 h 462735"/>
                          <a:gd name="connsiteX1" fmla="*/ 562773 w 1688319"/>
                          <a:gd name="connsiteY1" fmla="*/ 0 h 462735"/>
                          <a:gd name="connsiteX2" fmla="*/ 1074896 w 1688319"/>
                          <a:gd name="connsiteY2" fmla="*/ 0 h 462735"/>
                          <a:gd name="connsiteX3" fmla="*/ 1688319 w 1688319"/>
                          <a:gd name="connsiteY3" fmla="*/ 0 h 462735"/>
                          <a:gd name="connsiteX4" fmla="*/ 1688319 w 1688319"/>
                          <a:gd name="connsiteY4" fmla="*/ 462735 h 462735"/>
                          <a:gd name="connsiteX5" fmla="*/ 1142429 w 1688319"/>
                          <a:gd name="connsiteY5" fmla="*/ 462735 h 462735"/>
                          <a:gd name="connsiteX6" fmla="*/ 596539 w 1688319"/>
                          <a:gd name="connsiteY6" fmla="*/ 462735 h 462735"/>
                          <a:gd name="connsiteX7" fmla="*/ 0 w 1688319"/>
                          <a:gd name="connsiteY7" fmla="*/ 462735 h 462735"/>
                          <a:gd name="connsiteX8" fmla="*/ 0 w 1688319"/>
                          <a:gd name="connsiteY8" fmla="*/ 0 h 46273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1688319" h="462735" fill="none" extrusionOk="0">
                            <a:moveTo>
                              <a:pt x="0" y="0"/>
                            </a:moveTo>
                            <a:cubicBezTo>
                              <a:pt x="185840" y="-22065"/>
                              <a:pt x="307357" y="22996"/>
                              <a:pt x="562773" y="0"/>
                            </a:cubicBezTo>
                            <a:cubicBezTo>
                              <a:pt x="818189" y="-22996"/>
                              <a:pt x="971824" y="21160"/>
                              <a:pt x="1074896" y="0"/>
                            </a:cubicBezTo>
                            <a:cubicBezTo>
                              <a:pt x="1177968" y="-21160"/>
                              <a:pt x="1415739" y="17506"/>
                              <a:pt x="1688319" y="0"/>
                            </a:cubicBezTo>
                            <a:cubicBezTo>
                              <a:pt x="1712260" y="127880"/>
                              <a:pt x="1643957" y="310572"/>
                              <a:pt x="1688319" y="462735"/>
                            </a:cubicBezTo>
                            <a:cubicBezTo>
                              <a:pt x="1538392" y="503801"/>
                              <a:pt x="1325751" y="457996"/>
                              <a:pt x="1142429" y="462735"/>
                            </a:cubicBezTo>
                            <a:cubicBezTo>
                              <a:pt x="959107" y="467474"/>
                              <a:pt x="805930" y="406146"/>
                              <a:pt x="596539" y="462735"/>
                            </a:cubicBezTo>
                            <a:cubicBezTo>
                              <a:pt x="387148" y="519324"/>
                              <a:pt x="240826" y="412472"/>
                              <a:pt x="0" y="462735"/>
                            </a:cubicBezTo>
                            <a:cubicBezTo>
                              <a:pt x="-32678" y="342982"/>
                              <a:pt x="26228" y="229594"/>
                              <a:pt x="0" y="0"/>
                            </a:cubicBezTo>
                            <a:close/>
                          </a:path>
                          <a:path w="1688319" h="462735" stroke="0" extrusionOk="0">
                            <a:moveTo>
                              <a:pt x="0" y="0"/>
                            </a:moveTo>
                            <a:cubicBezTo>
                              <a:pt x="129554" y="-22562"/>
                              <a:pt x="315345" y="38239"/>
                              <a:pt x="529007" y="0"/>
                            </a:cubicBezTo>
                            <a:cubicBezTo>
                              <a:pt x="742669" y="-38239"/>
                              <a:pt x="907179" y="2258"/>
                              <a:pt x="1108663" y="0"/>
                            </a:cubicBezTo>
                            <a:cubicBezTo>
                              <a:pt x="1310147" y="-2258"/>
                              <a:pt x="1504373" y="52864"/>
                              <a:pt x="1688319" y="0"/>
                            </a:cubicBezTo>
                            <a:cubicBezTo>
                              <a:pt x="1702139" y="210619"/>
                              <a:pt x="1678260" y="326528"/>
                              <a:pt x="1688319" y="462735"/>
                            </a:cubicBezTo>
                            <a:cubicBezTo>
                              <a:pt x="1481789" y="471792"/>
                              <a:pt x="1382800" y="432408"/>
                              <a:pt x="1142429" y="462735"/>
                            </a:cubicBezTo>
                            <a:cubicBezTo>
                              <a:pt x="902058" y="493062"/>
                              <a:pt x="729914" y="419501"/>
                              <a:pt x="613423" y="462735"/>
                            </a:cubicBezTo>
                            <a:cubicBezTo>
                              <a:pt x="496932" y="505969"/>
                              <a:pt x="225208" y="431062"/>
                              <a:pt x="0" y="462735"/>
                            </a:cubicBezTo>
                            <a:cubicBezTo>
                              <a:pt x="-7610" y="262942"/>
                              <a:pt x="21369" y="19776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fr-FR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Mission Statement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CF30E54-CD4F-6773-349B-467EFE855A62}"/>
                  </a:ext>
                </a:extLst>
              </p:cNvPr>
              <p:cNvSpPr/>
              <p:nvPr/>
            </p:nvSpPr>
            <p:spPr>
              <a:xfrm>
                <a:off x="13183644" y="3618246"/>
                <a:ext cx="1688319" cy="462735"/>
              </a:xfrm>
              <a:prstGeom prst="rect">
                <a:avLst/>
              </a:prstGeom>
              <a:solidFill>
                <a:srgbClr val="3F1072"/>
              </a:solidFill>
              <a:ln>
                <a:solidFill>
                  <a:schemeClr val="bg1">
                    <a:lumMod val="65000"/>
                  </a:schemeClr>
                </a:solidFill>
                <a:miter lim="800000"/>
                <a:extLst>
                  <a:ext uri="{C807C97D-BFC1-408E-A445-0C87EB9F89A2}">
                    <ask:lineSketchStyleProps xmlns:ask="http://schemas.microsoft.com/office/drawing/2018/sketchyshapes" sd="1617256088">
                      <a:custGeom>
                        <a:avLst/>
                        <a:gdLst>
                          <a:gd name="connsiteX0" fmla="*/ 0 w 1688319"/>
                          <a:gd name="connsiteY0" fmla="*/ 0 h 462735"/>
                          <a:gd name="connsiteX1" fmla="*/ 596539 w 1688319"/>
                          <a:gd name="connsiteY1" fmla="*/ 0 h 462735"/>
                          <a:gd name="connsiteX2" fmla="*/ 1193079 w 1688319"/>
                          <a:gd name="connsiteY2" fmla="*/ 0 h 462735"/>
                          <a:gd name="connsiteX3" fmla="*/ 1688319 w 1688319"/>
                          <a:gd name="connsiteY3" fmla="*/ 0 h 462735"/>
                          <a:gd name="connsiteX4" fmla="*/ 1688319 w 1688319"/>
                          <a:gd name="connsiteY4" fmla="*/ 462735 h 462735"/>
                          <a:gd name="connsiteX5" fmla="*/ 1108663 w 1688319"/>
                          <a:gd name="connsiteY5" fmla="*/ 462735 h 462735"/>
                          <a:gd name="connsiteX6" fmla="*/ 596539 w 1688319"/>
                          <a:gd name="connsiteY6" fmla="*/ 462735 h 462735"/>
                          <a:gd name="connsiteX7" fmla="*/ 0 w 1688319"/>
                          <a:gd name="connsiteY7" fmla="*/ 462735 h 462735"/>
                          <a:gd name="connsiteX8" fmla="*/ 0 w 1688319"/>
                          <a:gd name="connsiteY8" fmla="*/ 0 h 46273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1688319" h="462735" fill="none" extrusionOk="0">
                            <a:moveTo>
                              <a:pt x="0" y="0"/>
                            </a:moveTo>
                            <a:cubicBezTo>
                              <a:pt x="157689" y="-15059"/>
                              <a:pt x="444593" y="13882"/>
                              <a:pt x="596539" y="0"/>
                            </a:cubicBezTo>
                            <a:cubicBezTo>
                              <a:pt x="748485" y="-13882"/>
                              <a:pt x="1026070" y="48597"/>
                              <a:pt x="1193079" y="0"/>
                            </a:cubicBezTo>
                            <a:cubicBezTo>
                              <a:pt x="1360088" y="-48597"/>
                              <a:pt x="1484593" y="36267"/>
                              <a:pt x="1688319" y="0"/>
                            </a:cubicBezTo>
                            <a:cubicBezTo>
                              <a:pt x="1712223" y="152627"/>
                              <a:pt x="1674348" y="349003"/>
                              <a:pt x="1688319" y="462735"/>
                            </a:cubicBezTo>
                            <a:cubicBezTo>
                              <a:pt x="1519401" y="464433"/>
                              <a:pt x="1272874" y="434820"/>
                              <a:pt x="1108663" y="462735"/>
                            </a:cubicBezTo>
                            <a:cubicBezTo>
                              <a:pt x="944452" y="490650"/>
                              <a:pt x="733533" y="406894"/>
                              <a:pt x="596539" y="462735"/>
                            </a:cubicBezTo>
                            <a:cubicBezTo>
                              <a:pt x="459545" y="518576"/>
                              <a:pt x="214125" y="437351"/>
                              <a:pt x="0" y="462735"/>
                            </a:cubicBezTo>
                            <a:cubicBezTo>
                              <a:pt x="-41396" y="264172"/>
                              <a:pt x="28284" y="204522"/>
                              <a:pt x="0" y="0"/>
                            </a:cubicBezTo>
                            <a:close/>
                          </a:path>
                          <a:path w="1688319" h="462735" stroke="0" extrusionOk="0">
                            <a:moveTo>
                              <a:pt x="0" y="0"/>
                            </a:moveTo>
                            <a:cubicBezTo>
                              <a:pt x="154973" y="-32660"/>
                              <a:pt x="310513" y="7538"/>
                              <a:pt x="562773" y="0"/>
                            </a:cubicBezTo>
                            <a:cubicBezTo>
                              <a:pt x="815033" y="-7538"/>
                              <a:pt x="853767" y="56432"/>
                              <a:pt x="1091780" y="0"/>
                            </a:cubicBezTo>
                            <a:cubicBezTo>
                              <a:pt x="1329793" y="-56432"/>
                              <a:pt x="1510547" y="20789"/>
                              <a:pt x="1688319" y="0"/>
                            </a:cubicBezTo>
                            <a:cubicBezTo>
                              <a:pt x="1719518" y="153005"/>
                              <a:pt x="1647352" y="255149"/>
                              <a:pt x="1688319" y="462735"/>
                            </a:cubicBezTo>
                            <a:cubicBezTo>
                              <a:pt x="1542524" y="479059"/>
                              <a:pt x="1299154" y="430135"/>
                              <a:pt x="1142429" y="462735"/>
                            </a:cubicBezTo>
                            <a:cubicBezTo>
                              <a:pt x="985704" y="495335"/>
                              <a:pt x="810994" y="408006"/>
                              <a:pt x="613423" y="462735"/>
                            </a:cubicBezTo>
                            <a:cubicBezTo>
                              <a:pt x="415852" y="517464"/>
                              <a:pt x="282701" y="426074"/>
                              <a:pt x="0" y="462735"/>
                            </a:cubicBezTo>
                            <a:cubicBezTo>
                              <a:pt x="-43512" y="237672"/>
                              <a:pt x="20046" y="203931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fr-FR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Mission Objectives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8636451-418D-6C1F-73EC-D660DEF14FEC}"/>
                  </a:ext>
                </a:extLst>
              </p:cNvPr>
              <p:cNvSpPr/>
              <p:nvPr/>
            </p:nvSpPr>
            <p:spPr>
              <a:xfrm>
                <a:off x="13183643" y="5245640"/>
                <a:ext cx="1688319" cy="462735"/>
              </a:xfrm>
              <a:prstGeom prst="rect">
                <a:avLst/>
              </a:prstGeom>
              <a:solidFill>
                <a:srgbClr val="3F1072"/>
              </a:solidFill>
              <a:ln>
                <a:solidFill>
                  <a:schemeClr val="bg1">
                    <a:lumMod val="65000"/>
                  </a:schemeClr>
                </a:solidFill>
                <a:miter lim="800000"/>
                <a:extLst>
                  <a:ext uri="{C807C97D-BFC1-408E-A445-0C87EB9F89A2}">
                    <ask:lineSketchStyleProps xmlns:ask="http://schemas.microsoft.com/office/drawing/2018/sketchyshapes" sd="981765707">
                      <a:custGeom>
                        <a:avLst/>
                        <a:gdLst>
                          <a:gd name="connsiteX0" fmla="*/ 0 w 1688319"/>
                          <a:gd name="connsiteY0" fmla="*/ 0 h 462735"/>
                          <a:gd name="connsiteX1" fmla="*/ 545890 w 1688319"/>
                          <a:gd name="connsiteY1" fmla="*/ 0 h 462735"/>
                          <a:gd name="connsiteX2" fmla="*/ 1091780 w 1688319"/>
                          <a:gd name="connsiteY2" fmla="*/ 0 h 462735"/>
                          <a:gd name="connsiteX3" fmla="*/ 1688319 w 1688319"/>
                          <a:gd name="connsiteY3" fmla="*/ 0 h 462735"/>
                          <a:gd name="connsiteX4" fmla="*/ 1688319 w 1688319"/>
                          <a:gd name="connsiteY4" fmla="*/ 462735 h 462735"/>
                          <a:gd name="connsiteX5" fmla="*/ 1108663 w 1688319"/>
                          <a:gd name="connsiteY5" fmla="*/ 462735 h 462735"/>
                          <a:gd name="connsiteX6" fmla="*/ 512123 w 1688319"/>
                          <a:gd name="connsiteY6" fmla="*/ 462735 h 462735"/>
                          <a:gd name="connsiteX7" fmla="*/ 0 w 1688319"/>
                          <a:gd name="connsiteY7" fmla="*/ 462735 h 462735"/>
                          <a:gd name="connsiteX8" fmla="*/ 0 w 1688319"/>
                          <a:gd name="connsiteY8" fmla="*/ 0 h 46273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1688319" h="462735" fill="none" extrusionOk="0">
                            <a:moveTo>
                              <a:pt x="0" y="0"/>
                            </a:moveTo>
                            <a:cubicBezTo>
                              <a:pt x="187044" y="-14048"/>
                              <a:pt x="279955" y="32008"/>
                              <a:pt x="545890" y="0"/>
                            </a:cubicBezTo>
                            <a:cubicBezTo>
                              <a:pt x="811825" y="-32008"/>
                              <a:pt x="917688" y="38517"/>
                              <a:pt x="1091780" y="0"/>
                            </a:cubicBezTo>
                            <a:cubicBezTo>
                              <a:pt x="1265872" y="-38517"/>
                              <a:pt x="1502711" y="69197"/>
                              <a:pt x="1688319" y="0"/>
                            </a:cubicBezTo>
                            <a:cubicBezTo>
                              <a:pt x="1713924" y="104712"/>
                              <a:pt x="1642898" y="359909"/>
                              <a:pt x="1688319" y="462735"/>
                            </a:cubicBezTo>
                            <a:cubicBezTo>
                              <a:pt x="1453124" y="473843"/>
                              <a:pt x="1342337" y="443824"/>
                              <a:pt x="1108663" y="462735"/>
                            </a:cubicBezTo>
                            <a:cubicBezTo>
                              <a:pt x="874989" y="481646"/>
                              <a:pt x="698849" y="394984"/>
                              <a:pt x="512123" y="462735"/>
                            </a:cubicBezTo>
                            <a:cubicBezTo>
                              <a:pt x="325397" y="530486"/>
                              <a:pt x="172064" y="437475"/>
                              <a:pt x="0" y="462735"/>
                            </a:cubicBezTo>
                            <a:cubicBezTo>
                              <a:pt x="-44302" y="301776"/>
                              <a:pt x="50458" y="158689"/>
                              <a:pt x="0" y="0"/>
                            </a:cubicBezTo>
                            <a:close/>
                          </a:path>
                          <a:path w="1688319" h="462735" stroke="0" extrusionOk="0">
                            <a:moveTo>
                              <a:pt x="0" y="0"/>
                            </a:moveTo>
                            <a:cubicBezTo>
                              <a:pt x="286760" y="-6872"/>
                              <a:pt x="446348" y="70022"/>
                              <a:pt x="596539" y="0"/>
                            </a:cubicBezTo>
                            <a:cubicBezTo>
                              <a:pt x="746730" y="-70022"/>
                              <a:pt x="1021649" y="58244"/>
                              <a:pt x="1159312" y="0"/>
                            </a:cubicBezTo>
                            <a:cubicBezTo>
                              <a:pt x="1296975" y="-58244"/>
                              <a:pt x="1482307" y="5746"/>
                              <a:pt x="1688319" y="0"/>
                            </a:cubicBezTo>
                            <a:cubicBezTo>
                              <a:pt x="1718674" y="185858"/>
                              <a:pt x="1640128" y="232304"/>
                              <a:pt x="1688319" y="462735"/>
                            </a:cubicBezTo>
                            <a:cubicBezTo>
                              <a:pt x="1497667" y="482373"/>
                              <a:pt x="1268773" y="452428"/>
                              <a:pt x="1125546" y="462735"/>
                            </a:cubicBezTo>
                            <a:cubicBezTo>
                              <a:pt x="982319" y="473042"/>
                              <a:pt x="816688" y="453436"/>
                              <a:pt x="596539" y="462735"/>
                            </a:cubicBezTo>
                            <a:cubicBezTo>
                              <a:pt x="376390" y="472034"/>
                              <a:pt x="161590" y="438927"/>
                              <a:pt x="0" y="462735"/>
                            </a:cubicBezTo>
                            <a:cubicBezTo>
                              <a:pt x="-11089" y="283267"/>
                              <a:pt x="16556" y="197900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fr-FR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Mission Architecture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A52BBFD-6EFC-5F3F-2257-C57ECEC567CB}"/>
                  </a:ext>
                </a:extLst>
              </p:cNvPr>
              <p:cNvSpPr/>
              <p:nvPr/>
            </p:nvSpPr>
            <p:spPr>
              <a:xfrm>
                <a:off x="11635516" y="4404905"/>
                <a:ext cx="1351768" cy="462735"/>
              </a:xfrm>
              <a:prstGeom prst="rect">
                <a:avLst/>
              </a:prstGeom>
              <a:solidFill>
                <a:srgbClr val="006600"/>
              </a:solidFill>
              <a:ln>
                <a:solidFill>
                  <a:schemeClr val="bg1">
                    <a:lumMod val="65000"/>
                  </a:schemeClr>
                </a:solidFill>
                <a:miter lim="800000"/>
                <a:extLst>
                  <a:ext uri="{C807C97D-BFC1-408E-A445-0C87EB9F89A2}">
                    <ask:lineSketchStyleProps xmlns:ask="http://schemas.microsoft.com/office/drawing/2018/sketchyshapes" sd="2091018771">
                      <a:custGeom>
                        <a:avLst/>
                        <a:gdLst>
                          <a:gd name="connsiteX0" fmla="*/ 0 w 1351768"/>
                          <a:gd name="connsiteY0" fmla="*/ 0 h 462735"/>
                          <a:gd name="connsiteX1" fmla="*/ 423554 w 1351768"/>
                          <a:gd name="connsiteY1" fmla="*/ 0 h 462735"/>
                          <a:gd name="connsiteX2" fmla="*/ 833590 w 1351768"/>
                          <a:gd name="connsiteY2" fmla="*/ 0 h 462735"/>
                          <a:gd name="connsiteX3" fmla="*/ 1351768 w 1351768"/>
                          <a:gd name="connsiteY3" fmla="*/ 0 h 462735"/>
                          <a:gd name="connsiteX4" fmla="*/ 1351768 w 1351768"/>
                          <a:gd name="connsiteY4" fmla="*/ 462735 h 462735"/>
                          <a:gd name="connsiteX5" fmla="*/ 928214 w 1351768"/>
                          <a:gd name="connsiteY5" fmla="*/ 462735 h 462735"/>
                          <a:gd name="connsiteX6" fmla="*/ 450589 w 1351768"/>
                          <a:gd name="connsiteY6" fmla="*/ 462735 h 462735"/>
                          <a:gd name="connsiteX7" fmla="*/ 0 w 1351768"/>
                          <a:gd name="connsiteY7" fmla="*/ 462735 h 462735"/>
                          <a:gd name="connsiteX8" fmla="*/ 0 w 1351768"/>
                          <a:gd name="connsiteY8" fmla="*/ 0 h 46273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1351768" h="462735" fill="none" extrusionOk="0">
                            <a:moveTo>
                              <a:pt x="0" y="0"/>
                            </a:moveTo>
                            <a:cubicBezTo>
                              <a:pt x="159169" y="-6628"/>
                              <a:pt x="255500" y="48051"/>
                              <a:pt x="423554" y="0"/>
                            </a:cubicBezTo>
                            <a:cubicBezTo>
                              <a:pt x="591608" y="-48051"/>
                              <a:pt x="650091" y="1324"/>
                              <a:pt x="833590" y="0"/>
                            </a:cubicBezTo>
                            <a:cubicBezTo>
                              <a:pt x="1017089" y="-1324"/>
                              <a:pt x="1161086" y="34464"/>
                              <a:pt x="1351768" y="0"/>
                            </a:cubicBezTo>
                            <a:cubicBezTo>
                              <a:pt x="1383141" y="206681"/>
                              <a:pt x="1302756" y="316064"/>
                              <a:pt x="1351768" y="462735"/>
                            </a:cubicBezTo>
                            <a:cubicBezTo>
                              <a:pt x="1211659" y="507966"/>
                              <a:pt x="1133631" y="461486"/>
                              <a:pt x="928214" y="462735"/>
                            </a:cubicBezTo>
                            <a:cubicBezTo>
                              <a:pt x="722797" y="463984"/>
                              <a:pt x="577894" y="448128"/>
                              <a:pt x="450589" y="462735"/>
                            </a:cubicBezTo>
                            <a:cubicBezTo>
                              <a:pt x="323284" y="477342"/>
                              <a:pt x="147648" y="424734"/>
                              <a:pt x="0" y="462735"/>
                            </a:cubicBezTo>
                            <a:cubicBezTo>
                              <a:pt x="-3047" y="303458"/>
                              <a:pt x="17408" y="170804"/>
                              <a:pt x="0" y="0"/>
                            </a:cubicBezTo>
                            <a:close/>
                          </a:path>
                          <a:path w="1351768" h="462735" stroke="0" extrusionOk="0">
                            <a:moveTo>
                              <a:pt x="0" y="0"/>
                            </a:moveTo>
                            <a:cubicBezTo>
                              <a:pt x="158196" y="-4751"/>
                              <a:pt x="338940" y="35070"/>
                              <a:pt x="450589" y="0"/>
                            </a:cubicBezTo>
                            <a:cubicBezTo>
                              <a:pt x="562238" y="-35070"/>
                              <a:pt x="731793" y="36077"/>
                              <a:pt x="928214" y="0"/>
                            </a:cubicBezTo>
                            <a:cubicBezTo>
                              <a:pt x="1124635" y="-36077"/>
                              <a:pt x="1199534" y="10274"/>
                              <a:pt x="1351768" y="0"/>
                            </a:cubicBezTo>
                            <a:cubicBezTo>
                              <a:pt x="1363175" y="124827"/>
                              <a:pt x="1330072" y="291489"/>
                              <a:pt x="1351768" y="462735"/>
                            </a:cubicBezTo>
                            <a:cubicBezTo>
                              <a:pt x="1202455" y="478133"/>
                              <a:pt x="1129195" y="462078"/>
                              <a:pt x="928214" y="462735"/>
                            </a:cubicBezTo>
                            <a:cubicBezTo>
                              <a:pt x="727233" y="463392"/>
                              <a:pt x="675926" y="451772"/>
                              <a:pt x="477625" y="462735"/>
                            </a:cubicBezTo>
                            <a:cubicBezTo>
                              <a:pt x="279324" y="473698"/>
                              <a:pt x="189950" y="450716"/>
                              <a:pt x="0" y="462735"/>
                            </a:cubicBezTo>
                            <a:cubicBezTo>
                              <a:pt x="-50241" y="368338"/>
                              <a:pt x="28689" y="16927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fr-FR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Functional Analysis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15305D7-CD91-540A-AFD5-1DC26FE9747F}"/>
                  </a:ext>
                </a:extLst>
              </p:cNvPr>
              <p:cNvSpPr/>
              <p:nvPr/>
            </p:nvSpPr>
            <p:spPr>
              <a:xfrm>
                <a:off x="15105643" y="4404904"/>
                <a:ext cx="1314446" cy="462735"/>
              </a:xfrm>
              <a:prstGeom prst="rect">
                <a:avLst/>
              </a:prstGeom>
              <a:solidFill>
                <a:srgbClr val="006600"/>
              </a:solidFill>
              <a:ln>
                <a:solidFill>
                  <a:schemeClr val="bg1">
                    <a:lumMod val="65000"/>
                  </a:schemeClr>
                </a:solidFill>
                <a:miter lim="800000"/>
                <a:extLst>
                  <a:ext uri="{C807C97D-BFC1-408E-A445-0C87EB9F89A2}">
                    <ask:lineSketchStyleProps xmlns:ask="http://schemas.microsoft.com/office/drawing/2018/sketchyshapes" sd="3978248048">
                      <a:custGeom>
                        <a:avLst/>
                        <a:gdLst>
                          <a:gd name="connsiteX0" fmla="*/ 0 w 1314446"/>
                          <a:gd name="connsiteY0" fmla="*/ 0 h 462735"/>
                          <a:gd name="connsiteX1" fmla="*/ 425004 w 1314446"/>
                          <a:gd name="connsiteY1" fmla="*/ 0 h 462735"/>
                          <a:gd name="connsiteX2" fmla="*/ 863153 w 1314446"/>
                          <a:gd name="connsiteY2" fmla="*/ 0 h 462735"/>
                          <a:gd name="connsiteX3" fmla="*/ 1314446 w 1314446"/>
                          <a:gd name="connsiteY3" fmla="*/ 0 h 462735"/>
                          <a:gd name="connsiteX4" fmla="*/ 1314446 w 1314446"/>
                          <a:gd name="connsiteY4" fmla="*/ 462735 h 462735"/>
                          <a:gd name="connsiteX5" fmla="*/ 876297 w 1314446"/>
                          <a:gd name="connsiteY5" fmla="*/ 462735 h 462735"/>
                          <a:gd name="connsiteX6" fmla="*/ 425004 w 1314446"/>
                          <a:gd name="connsiteY6" fmla="*/ 462735 h 462735"/>
                          <a:gd name="connsiteX7" fmla="*/ 0 w 1314446"/>
                          <a:gd name="connsiteY7" fmla="*/ 462735 h 462735"/>
                          <a:gd name="connsiteX8" fmla="*/ 0 w 1314446"/>
                          <a:gd name="connsiteY8" fmla="*/ 0 h 46273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1314446" h="462735" fill="none" extrusionOk="0">
                            <a:moveTo>
                              <a:pt x="0" y="0"/>
                            </a:moveTo>
                            <a:cubicBezTo>
                              <a:pt x="163720" y="-36987"/>
                              <a:pt x="225421" y="33721"/>
                              <a:pt x="425004" y="0"/>
                            </a:cubicBezTo>
                            <a:cubicBezTo>
                              <a:pt x="624587" y="-33721"/>
                              <a:pt x="670335" y="42187"/>
                              <a:pt x="863153" y="0"/>
                            </a:cubicBezTo>
                            <a:cubicBezTo>
                              <a:pt x="1055971" y="-42187"/>
                              <a:pt x="1183770" y="33810"/>
                              <a:pt x="1314446" y="0"/>
                            </a:cubicBezTo>
                            <a:cubicBezTo>
                              <a:pt x="1342816" y="180285"/>
                              <a:pt x="1295320" y="264822"/>
                              <a:pt x="1314446" y="462735"/>
                            </a:cubicBezTo>
                            <a:cubicBezTo>
                              <a:pt x="1134615" y="506363"/>
                              <a:pt x="999553" y="439856"/>
                              <a:pt x="876297" y="462735"/>
                            </a:cubicBezTo>
                            <a:cubicBezTo>
                              <a:pt x="753041" y="485614"/>
                              <a:pt x="601414" y="437549"/>
                              <a:pt x="425004" y="462735"/>
                            </a:cubicBezTo>
                            <a:cubicBezTo>
                              <a:pt x="248594" y="487921"/>
                              <a:pt x="107030" y="430268"/>
                              <a:pt x="0" y="462735"/>
                            </a:cubicBezTo>
                            <a:cubicBezTo>
                              <a:pt x="-23651" y="335498"/>
                              <a:pt x="20084" y="160390"/>
                              <a:pt x="0" y="0"/>
                            </a:cubicBezTo>
                            <a:close/>
                          </a:path>
                          <a:path w="1314446" h="462735" stroke="0" extrusionOk="0">
                            <a:moveTo>
                              <a:pt x="0" y="0"/>
                            </a:moveTo>
                            <a:cubicBezTo>
                              <a:pt x="171210" y="-36263"/>
                              <a:pt x="261143" y="44483"/>
                              <a:pt x="438149" y="0"/>
                            </a:cubicBezTo>
                            <a:cubicBezTo>
                              <a:pt x="615155" y="-44483"/>
                              <a:pt x="681651" y="28252"/>
                              <a:pt x="876297" y="0"/>
                            </a:cubicBezTo>
                            <a:cubicBezTo>
                              <a:pt x="1070943" y="-28252"/>
                              <a:pt x="1130003" y="28340"/>
                              <a:pt x="1314446" y="0"/>
                            </a:cubicBezTo>
                            <a:cubicBezTo>
                              <a:pt x="1339353" y="192733"/>
                              <a:pt x="1287830" y="298563"/>
                              <a:pt x="1314446" y="462735"/>
                            </a:cubicBezTo>
                            <a:cubicBezTo>
                              <a:pt x="1101161" y="462743"/>
                              <a:pt x="1038393" y="437927"/>
                              <a:pt x="876297" y="462735"/>
                            </a:cubicBezTo>
                            <a:cubicBezTo>
                              <a:pt x="714201" y="487543"/>
                              <a:pt x="632263" y="430730"/>
                              <a:pt x="477582" y="462735"/>
                            </a:cubicBezTo>
                            <a:cubicBezTo>
                              <a:pt x="322902" y="494740"/>
                              <a:pt x="200115" y="448224"/>
                              <a:pt x="0" y="462735"/>
                            </a:cubicBezTo>
                            <a:cubicBezTo>
                              <a:pt x="-31969" y="308271"/>
                              <a:pt x="9048" y="18131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fr-FR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Alt. Mission </a:t>
                </a:r>
                <a:r>
                  <a:rPr kumimoji="0" lang="fr-FR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Architecures</a:t>
                </a:r>
                <a:endParaRPr kumimoji="0" lang="fr-F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8F24CA8-593E-4D6D-08BD-4DA41D3AF5B9}"/>
                  </a:ext>
                </a:extLst>
              </p:cNvPr>
              <p:cNvSpPr/>
              <p:nvPr/>
            </p:nvSpPr>
            <p:spPr>
              <a:xfrm>
                <a:off x="14948163" y="3233810"/>
                <a:ext cx="1153160" cy="462735"/>
              </a:xfrm>
              <a:prstGeom prst="rect">
                <a:avLst/>
              </a:prstGeom>
              <a:solidFill>
                <a:srgbClr val="006600"/>
              </a:solidFill>
              <a:ln>
                <a:solidFill>
                  <a:schemeClr val="bg1">
                    <a:lumMod val="65000"/>
                  </a:schemeClr>
                </a:solidFill>
                <a:miter lim="800000"/>
                <a:extLst>
                  <a:ext uri="{C807C97D-BFC1-408E-A445-0C87EB9F89A2}">
                    <ask:lineSketchStyleProps xmlns:ask="http://schemas.microsoft.com/office/drawing/2018/sketchyshapes" sd="3809068511">
                      <a:custGeom>
                        <a:avLst/>
                        <a:gdLst>
                          <a:gd name="connsiteX0" fmla="*/ 0 w 1153160"/>
                          <a:gd name="connsiteY0" fmla="*/ 0 h 462735"/>
                          <a:gd name="connsiteX1" fmla="*/ 541985 w 1153160"/>
                          <a:gd name="connsiteY1" fmla="*/ 0 h 462735"/>
                          <a:gd name="connsiteX2" fmla="*/ 1153160 w 1153160"/>
                          <a:gd name="connsiteY2" fmla="*/ 0 h 462735"/>
                          <a:gd name="connsiteX3" fmla="*/ 1153160 w 1153160"/>
                          <a:gd name="connsiteY3" fmla="*/ 462735 h 462735"/>
                          <a:gd name="connsiteX4" fmla="*/ 588112 w 1153160"/>
                          <a:gd name="connsiteY4" fmla="*/ 462735 h 462735"/>
                          <a:gd name="connsiteX5" fmla="*/ 0 w 1153160"/>
                          <a:gd name="connsiteY5" fmla="*/ 462735 h 462735"/>
                          <a:gd name="connsiteX6" fmla="*/ 0 w 1153160"/>
                          <a:gd name="connsiteY6" fmla="*/ 0 h 46273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153160" h="462735" fill="none" extrusionOk="0">
                            <a:moveTo>
                              <a:pt x="0" y="0"/>
                            </a:moveTo>
                            <a:cubicBezTo>
                              <a:pt x="259601" y="-40707"/>
                              <a:pt x="364222" y="53337"/>
                              <a:pt x="541985" y="0"/>
                            </a:cubicBezTo>
                            <a:cubicBezTo>
                              <a:pt x="719749" y="-53337"/>
                              <a:pt x="1009654" y="878"/>
                              <a:pt x="1153160" y="0"/>
                            </a:cubicBezTo>
                            <a:cubicBezTo>
                              <a:pt x="1205361" y="120435"/>
                              <a:pt x="1103883" y="365686"/>
                              <a:pt x="1153160" y="462735"/>
                            </a:cubicBezTo>
                            <a:cubicBezTo>
                              <a:pt x="947016" y="462996"/>
                              <a:pt x="771342" y="444074"/>
                              <a:pt x="588112" y="462735"/>
                            </a:cubicBezTo>
                            <a:cubicBezTo>
                              <a:pt x="404882" y="481396"/>
                              <a:pt x="248759" y="439455"/>
                              <a:pt x="0" y="462735"/>
                            </a:cubicBezTo>
                            <a:cubicBezTo>
                              <a:pt x="-27249" y="368163"/>
                              <a:pt x="14304" y="170700"/>
                              <a:pt x="0" y="0"/>
                            </a:cubicBezTo>
                            <a:close/>
                          </a:path>
                          <a:path w="1153160" h="462735" stroke="0" extrusionOk="0">
                            <a:moveTo>
                              <a:pt x="0" y="0"/>
                            </a:moveTo>
                            <a:cubicBezTo>
                              <a:pt x="213665" y="-23595"/>
                              <a:pt x="274094" y="35554"/>
                              <a:pt x="541985" y="0"/>
                            </a:cubicBezTo>
                            <a:cubicBezTo>
                              <a:pt x="809876" y="-35554"/>
                              <a:pt x="1025964" y="66848"/>
                              <a:pt x="1153160" y="0"/>
                            </a:cubicBezTo>
                            <a:cubicBezTo>
                              <a:pt x="1187088" y="166444"/>
                              <a:pt x="1141788" y="361047"/>
                              <a:pt x="1153160" y="462735"/>
                            </a:cubicBezTo>
                            <a:cubicBezTo>
                              <a:pt x="987813" y="490165"/>
                              <a:pt x="778887" y="419332"/>
                              <a:pt x="588112" y="462735"/>
                            </a:cubicBezTo>
                            <a:cubicBezTo>
                              <a:pt x="397337" y="506138"/>
                              <a:pt x="182811" y="410546"/>
                              <a:pt x="0" y="462735"/>
                            </a:cubicBezTo>
                            <a:cubicBezTo>
                              <a:pt x="-51266" y="277083"/>
                              <a:pt x="35636" y="132326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fr-FR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Stakeholder Analysis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ED7AC0A-F47F-220F-F201-E5587C9DA654}"/>
                  </a:ext>
                </a:extLst>
              </p:cNvPr>
              <p:cNvSpPr/>
              <p:nvPr/>
            </p:nvSpPr>
            <p:spPr>
              <a:xfrm>
                <a:off x="15105643" y="5245640"/>
                <a:ext cx="1314446" cy="462735"/>
              </a:xfrm>
              <a:prstGeom prst="rect">
                <a:avLst/>
              </a:prstGeom>
              <a:solidFill>
                <a:srgbClr val="006600"/>
              </a:solidFill>
              <a:ln>
                <a:solidFill>
                  <a:schemeClr val="bg1">
                    <a:lumMod val="65000"/>
                  </a:schemeClr>
                </a:solidFill>
                <a:miter lim="800000"/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1314446"/>
                          <a:gd name="connsiteY0" fmla="*/ 0 h 462735"/>
                          <a:gd name="connsiteX1" fmla="*/ 464438 w 1314446"/>
                          <a:gd name="connsiteY1" fmla="*/ 0 h 462735"/>
                          <a:gd name="connsiteX2" fmla="*/ 915731 w 1314446"/>
                          <a:gd name="connsiteY2" fmla="*/ 0 h 462735"/>
                          <a:gd name="connsiteX3" fmla="*/ 1314446 w 1314446"/>
                          <a:gd name="connsiteY3" fmla="*/ 0 h 462735"/>
                          <a:gd name="connsiteX4" fmla="*/ 1314446 w 1314446"/>
                          <a:gd name="connsiteY4" fmla="*/ 462735 h 462735"/>
                          <a:gd name="connsiteX5" fmla="*/ 902586 w 1314446"/>
                          <a:gd name="connsiteY5" fmla="*/ 462735 h 462735"/>
                          <a:gd name="connsiteX6" fmla="*/ 464438 w 1314446"/>
                          <a:gd name="connsiteY6" fmla="*/ 462735 h 462735"/>
                          <a:gd name="connsiteX7" fmla="*/ 0 w 1314446"/>
                          <a:gd name="connsiteY7" fmla="*/ 462735 h 462735"/>
                          <a:gd name="connsiteX8" fmla="*/ 0 w 1314446"/>
                          <a:gd name="connsiteY8" fmla="*/ 0 h 46273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1314446" h="462735" fill="none" extrusionOk="0">
                            <a:moveTo>
                              <a:pt x="0" y="0"/>
                            </a:moveTo>
                            <a:cubicBezTo>
                              <a:pt x="146561" y="-11683"/>
                              <a:pt x="347878" y="5325"/>
                              <a:pt x="464438" y="0"/>
                            </a:cubicBezTo>
                            <a:cubicBezTo>
                              <a:pt x="580998" y="-5325"/>
                              <a:pt x="698530" y="31587"/>
                              <a:pt x="915731" y="0"/>
                            </a:cubicBezTo>
                            <a:cubicBezTo>
                              <a:pt x="1132932" y="-31587"/>
                              <a:pt x="1230322" y="1103"/>
                              <a:pt x="1314446" y="0"/>
                            </a:cubicBezTo>
                            <a:cubicBezTo>
                              <a:pt x="1319829" y="104006"/>
                              <a:pt x="1300261" y="282534"/>
                              <a:pt x="1314446" y="462735"/>
                            </a:cubicBezTo>
                            <a:cubicBezTo>
                              <a:pt x="1169065" y="472852"/>
                              <a:pt x="1059998" y="423340"/>
                              <a:pt x="902586" y="462735"/>
                            </a:cubicBezTo>
                            <a:cubicBezTo>
                              <a:pt x="745174" y="502130"/>
                              <a:pt x="598008" y="437579"/>
                              <a:pt x="464438" y="462735"/>
                            </a:cubicBezTo>
                            <a:cubicBezTo>
                              <a:pt x="330868" y="487891"/>
                              <a:pt x="118956" y="411975"/>
                              <a:pt x="0" y="462735"/>
                            </a:cubicBezTo>
                            <a:cubicBezTo>
                              <a:pt x="-17813" y="301243"/>
                              <a:pt x="9590" y="225385"/>
                              <a:pt x="0" y="0"/>
                            </a:cubicBezTo>
                            <a:close/>
                          </a:path>
                          <a:path w="1314446" h="462735" stroke="0" extrusionOk="0">
                            <a:moveTo>
                              <a:pt x="0" y="0"/>
                            </a:moveTo>
                            <a:cubicBezTo>
                              <a:pt x="97117" y="-42732"/>
                              <a:pt x="300592" y="7407"/>
                              <a:pt x="425004" y="0"/>
                            </a:cubicBezTo>
                            <a:cubicBezTo>
                              <a:pt x="549416" y="-7407"/>
                              <a:pt x="696740" y="6849"/>
                              <a:pt x="823719" y="0"/>
                            </a:cubicBezTo>
                            <a:cubicBezTo>
                              <a:pt x="950698" y="-6849"/>
                              <a:pt x="1147500" y="52148"/>
                              <a:pt x="1314446" y="0"/>
                            </a:cubicBezTo>
                            <a:cubicBezTo>
                              <a:pt x="1341576" y="222417"/>
                              <a:pt x="1267109" y="294507"/>
                              <a:pt x="1314446" y="462735"/>
                            </a:cubicBezTo>
                            <a:cubicBezTo>
                              <a:pt x="1197732" y="482815"/>
                              <a:pt x="1036712" y="429954"/>
                              <a:pt x="902586" y="462735"/>
                            </a:cubicBezTo>
                            <a:cubicBezTo>
                              <a:pt x="768460" y="495516"/>
                              <a:pt x="625678" y="459376"/>
                              <a:pt x="438149" y="462735"/>
                            </a:cubicBezTo>
                            <a:cubicBezTo>
                              <a:pt x="250620" y="466094"/>
                              <a:pt x="139977" y="419340"/>
                              <a:pt x="0" y="462735"/>
                            </a:cubicBezTo>
                            <a:cubicBezTo>
                              <a:pt x="-15061" y="263470"/>
                              <a:pt x="41798" y="124072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fr-FR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Trade-off</a:t>
                </a:r>
              </a:p>
            </p:txBody>
          </p:sp>
          <p:cxnSp>
            <p:nvCxnSpPr>
              <p:cNvPr id="20" name="Connecteur : en angle 19">
                <a:extLst>
                  <a:ext uri="{FF2B5EF4-FFF2-40B4-BE49-F238E27FC236}">
                    <a16:creationId xmlns:a16="http://schemas.microsoft.com/office/drawing/2014/main" id="{6241BFD5-A514-7FAA-A4A9-A69DB20ACC1E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 rot="10800000" flipV="1">
                <a:off x="12311400" y="3849613"/>
                <a:ext cx="872244" cy="555292"/>
              </a:xfrm>
              <a:prstGeom prst="bentConnector2">
                <a:avLst/>
              </a:prstGeom>
              <a:ln w="34925">
                <a:solidFill>
                  <a:schemeClr val="bg1">
                    <a:lumMod val="6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Connecteur : en angle 20">
                <a:extLst>
                  <a:ext uri="{FF2B5EF4-FFF2-40B4-BE49-F238E27FC236}">
                    <a16:creationId xmlns:a16="http://schemas.microsoft.com/office/drawing/2014/main" id="{6B195ABE-0A13-8496-9AB6-ED391FF6A813}"/>
                  </a:ext>
                </a:extLst>
              </p:cNvPr>
              <p:cNvCxnSpPr>
                <a:cxnSpLocks/>
                <a:stCxn id="14" idx="3"/>
                <a:endCxn id="17" idx="0"/>
              </p:cNvCxnSpPr>
              <p:nvPr/>
            </p:nvCxnSpPr>
            <p:spPr>
              <a:xfrm>
                <a:off x="14871963" y="3849614"/>
                <a:ext cx="890903" cy="555290"/>
              </a:xfrm>
              <a:prstGeom prst="bentConnector2">
                <a:avLst/>
              </a:prstGeom>
              <a:ln w="34925">
                <a:solidFill>
                  <a:schemeClr val="bg1">
                    <a:lumMod val="65000"/>
                  </a:schemeClr>
                </a:solidFill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Connecteur droit avec flèche 21">
                <a:extLst>
                  <a:ext uri="{FF2B5EF4-FFF2-40B4-BE49-F238E27FC236}">
                    <a16:creationId xmlns:a16="http://schemas.microsoft.com/office/drawing/2014/main" id="{D0EF0AF0-344E-1C53-DB19-837DBFCD7D71}"/>
                  </a:ext>
                </a:extLst>
              </p:cNvPr>
              <p:cNvCxnSpPr>
                <a:stCxn id="14" idx="2"/>
                <a:endCxn id="15" idx="0"/>
              </p:cNvCxnSpPr>
              <p:nvPr/>
            </p:nvCxnSpPr>
            <p:spPr>
              <a:xfrm flipH="1">
                <a:off x="14027803" y="4080981"/>
                <a:ext cx="1" cy="1164659"/>
              </a:xfrm>
              <a:prstGeom prst="straightConnector1">
                <a:avLst/>
              </a:prstGeom>
              <a:ln w="31750">
                <a:solidFill>
                  <a:schemeClr val="bg1">
                    <a:lumMod val="65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necteur droit avec flèche 23">
                <a:extLst>
                  <a:ext uri="{FF2B5EF4-FFF2-40B4-BE49-F238E27FC236}">
                    <a16:creationId xmlns:a16="http://schemas.microsoft.com/office/drawing/2014/main" id="{006650D1-9046-85B5-5A8F-990A45777902}"/>
                  </a:ext>
                </a:extLst>
              </p:cNvPr>
              <p:cNvCxnSpPr>
                <a:cxnSpLocks/>
                <a:stCxn id="17" idx="2"/>
                <a:endCxn id="19" idx="0"/>
              </p:cNvCxnSpPr>
              <p:nvPr/>
            </p:nvCxnSpPr>
            <p:spPr>
              <a:xfrm>
                <a:off x="15762866" y="4867639"/>
                <a:ext cx="0" cy="378001"/>
              </a:xfrm>
              <a:prstGeom prst="straightConnector1">
                <a:avLst/>
              </a:prstGeom>
              <a:ln w="31750">
                <a:solidFill>
                  <a:schemeClr val="bg1">
                    <a:lumMod val="65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necteur droit avec flèche 25">
                <a:extLst>
                  <a:ext uri="{FF2B5EF4-FFF2-40B4-BE49-F238E27FC236}">
                    <a16:creationId xmlns:a16="http://schemas.microsoft.com/office/drawing/2014/main" id="{1AB10C81-854A-2F58-461A-652FD0C4498D}"/>
                  </a:ext>
                </a:extLst>
              </p:cNvPr>
              <p:cNvCxnSpPr>
                <a:cxnSpLocks/>
                <a:stCxn id="19" idx="1"/>
                <a:endCxn id="15" idx="3"/>
              </p:cNvCxnSpPr>
              <p:nvPr/>
            </p:nvCxnSpPr>
            <p:spPr>
              <a:xfrm flipH="1">
                <a:off x="14871962" y="5477008"/>
                <a:ext cx="233681" cy="0"/>
              </a:xfrm>
              <a:prstGeom prst="straightConnector1">
                <a:avLst/>
              </a:prstGeom>
              <a:ln w="3175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necteur : en angle 28">
                <a:extLst>
                  <a:ext uri="{FF2B5EF4-FFF2-40B4-BE49-F238E27FC236}">
                    <a16:creationId xmlns:a16="http://schemas.microsoft.com/office/drawing/2014/main" id="{FF772340-6B99-D8D6-5A8E-F64E3BB086FA}"/>
                  </a:ext>
                </a:extLst>
              </p:cNvPr>
              <p:cNvCxnSpPr>
                <a:cxnSpLocks/>
                <a:stCxn id="16" idx="2"/>
                <a:endCxn id="15" idx="1"/>
              </p:cNvCxnSpPr>
              <p:nvPr/>
            </p:nvCxnSpPr>
            <p:spPr>
              <a:xfrm rot="16200000" flipH="1">
                <a:off x="12442837" y="4736202"/>
                <a:ext cx="609368" cy="872243"/>
              </a:xfrm>
              <a:prstGeom prst="bentConnector2">
                <a:avLst/>
              </a:prstGeom>
              <a:ln w="34925">
                <a:solidFill>
                  <a:schemeClr val="bg1">
                    <a:lumMod val="65000"/>
                  </a:schemeClr>
                </a:solidFill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Connecteur droit avec flèche 33">
                <a:extLst>
                  <a:ext uri="{FF2B5EF4-FFF2-40B4-BE49-F238E27FC236}">
                    <a16:creationId xmlns:a16="http://schemas.microsoft.com/office/drawing/2014/main" id="{2B2F30C3-CE6A-93A9-159A-50DAE24AA34B}"/>
                  </a:ext>
                </a:extLst>
              </p:cNvPr>
              <p:cNvCxnSpPr>
                <a:cxnSpLocks/>
                <a:stCxn id="13" idx="2"/>
                <a:endCxn id="14" idx="0"/>
              </p:cNvCxnSpPr>
              <p:nvPr/>
            </p:nvCxnSpPr>
            <p:spPr>
              <a:xfrm>
                <a:off x="14027804" y="3308945"/>
                <a:ext cx="0" cy="309301"/>
              </a:xfrm>
              <a:prstGeom prst="straightConnector1">
                <a:avLst/>
              </a:prstGeom>
              <a:ln w="31750">
                <a:solidFill>
                  <a:schemeClr val="bg1">
                    <a:lumMod val="65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2A9FD33-7181-B6DD-F083-48BD946A926D}"/>
                </a:ext>
              </a:extLst>
            </p:cNvPr>
            <p:cNvSpPr/>
            <p:nvPr/>
          </p:nvSpPr>
          <p:spPr>
            <a:xfrm>
              <a:off x="12171945" y="8352560"/>
              <a:ext cx="2579392" cy="706961"/>
            </a:xfrm>
            <a:prstGeom prst="rect">
              <a:avLst/>
            </a:prstGeom>
            <a:solidFill>
              <a:srgbClr val="3F1072"/>
            </a:solidFill>
            <a:ln>
              <a:solidFill>
                <a:schemeClr val="bg1">
                  <a:lumMod val="65000"/>
                </a:schemeClr>
              </a:solidFill>
              <a:miter lim="800000"/>
              <a:extLst>
                <a:ext uri="{C807C97D-BFC1-408E-A445-0C87EB9F89A2}">
                  <ask:lineSketchStyleProps xmlns:ask="http://schemas.microsoft.com/office/drawing/2018/sketchyshapes" sd="981765707">
                    <a:custGeom>
                      <a:avLst/>
                      <a:gdLst>
                        <a:gd name="connsiteX0" fmla="*/ 0 w 1688319"/>
                        <a:gd name="connsiteY0" fmla="*/ 0 h 462735"/>
                        <a:gd name="connsiteX1" fmla="*/ 545890 w 1688319"/>
                        <a:gd name="connsiteY1" fmla="*/ 0 h 462735"/>
                        <a:gd name="connsiteX2" fmla="*/ 1091780 w 1688319"/>
                        <a:gd name="connsiteY2" fmla="*/ 0 h 462735"/>
                        <a:gd name="connsiteX3" fmla="*/ 1688319 w 1688319"/>
                        <a:gd name="connsiteY3" fmla="*/ 0 h 462735"/>
                        <a:gd name="connsiteX4" fmla="*/ 1688319 w 1688319"/>
                        <a:gd name="connsiteY4" fmla="*/ 462735 h 462735"/>
                        <a:gd name="connsiteX5" fmla="*/ 1108663 w 1688319"/>
                        <a:gd name="connsiteY5" fmla="*/ 462735 h 462735"/>
                        <a:gd name="connsiteX6" fmla="*/ 512123 w 1688319"/>
                        <a:gd name="connsiteY6" fmla="*/ 462735 h 462735"/>
                        <a:gd name="connsiteX7" fmla="*/ 0 w 1688319"/>
                        <a:gd name="connsiteY7" fmla="*/ 462735 h 462735"/>
                        <a:gd name="connsiteX8" fmla="*/ 0 w 1688319"/>
                        <a:gd name="connsiteY8" fmla="*/ 0 h 4627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688319" h="462735" fill="none" extrusionOk="0">
                          <a:moveTo>
                            <a:pt x="0" y="0"/>
                          </a:moveTo>
                          <a:cubicBezTo>
                            <a:pt x="187044" y="-14048"/>
                            <a:pt x="279955" y="32008"/>
                            <a:pt x="545890" y="0"/>
                          </a:cubicBezTo>
                          <a:cubicBezTo>
                            <a:pt x="811825" y="-32008"/>
                            <a:pt x="917688" y="38517"/>
                            <a:pt x="1091780" y="0"/>
                          </a:cubicBezTo>
                          <a:cubicBezTo>
                            <a:pt x="1265872" y="-38517"/>
                            <a:pt x="1502711" y="69197"/>
                            <a:pt x="1688319" y="0"/>
                          </a:cubicBezTo>
                          <a:cubicBezTo>
                            <a:pt x="1713924" y="104712"/>
                            <a:pt x="1642898" y="359909"/>
                            <a:pt x="1688319" y="462735"/>
                          </a:cubicBezTo>
                          <a:cubicBezTo>
                            <a:pt x="1453124" y="473843"/>
                            <a:pt x="1342337" y="443824"/>
                            <a:pt x="1108663" y="462735"/>
                          </a:cubicBezTo>
                          <a:cubicBezTo>
                            <a:pt x="874989" y="481646"/>
                            <a:pt x="698849" y="394984"/>
                            <a:pt x="512123" y="462735"/>
                          </a:cubicBezTo>
                          <a:cubicBezTo>
                            <a:pt x="325397" y="530486"/>
                            <a:pt x="172064" y="437475"/>
                            <a:pt x="0" y="462735"/>
                          </a:cubicBezTo>
                          <a:cubicBezTo>
                            <a:pt x="-44302" y="301776"/>
                            <a:pt x="50458" y="158689"/>
                            <a:pt x="0" y="0"/>
                          </a:cubicBezTo>
                          <a:close/>
                        </a:path>
                        <a:path w="1688319" h="462735" stroke="0" extrusionOk="0">
                          <a:moveTo>
                            <a:pt x="0" y="0"/>
                          </a:moveTo>
                          <a:cubicBezTo>
                            <a:pt x="286760" y="-6872"/>
                            <a:pt x="446348" y="70022"/>
                            <a:pt x="596539" y="0"/>
                          </a:cubicBezTo>
                          <a:cubicBezTo>
                            <a:pt x="746730" y="-70022"/>
                            <a:pt x="1021649" y="58244"/>
                            <a:pt x="1159312" y="0"/>
                          </a:cubicBezTo>
                          <a:cubicBezTo>
                            <a:pt x="1296975" y="-58244"/>
                            <a:pt x="1482307" y="5746"/>
                            <a:pt x="1688319" y="0"/>
                          </a:cubicBezTo>
                          <a:cubicBezTo>
                            <a:pt x="1718674" y="185858"/>
                            <a:pt x="1640128" y="232304"/>
                            <a:pt x="1688319" y="462735"/>
                          </a:cubicBezTo>
                          <a:cubicBezTo>
                            <a:pt x="1497667" y="482373"/>
                            <a:pt x="1268773" y="452428"/>
                            <a:pt x="1125546" y="462735"/>
                          </a:cubicBezTo>
                          <a:cubicBezTo>
                            <a:pt x="982319" y="473042"/>
                            <a:pt x="816688" y="453436"/>
                            <a:pt x="596539" y="462735"/>
                          </a:cubicBezTo>
                          <a:cubicBezTo>
                            <a:pt x="376390" y="472034"/>
                            <a:pt x="161590" y="438927"/>
                            <a:pt x="0" y="462735"/>
                          </a:cubicBezTo>
                          <a:cubicBezTo>
                            <a:pt x="-11089" y="283267"/>
                            <a:pt x="16556" y="197900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fr-F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rPr>
                <a:t>System Requirements</a:t>
              </a:r>
            </a:p>
          </p:txBody>
        </p:sp>
        <p:cxnSp>
          <p:nvCxnSpPr>
            <p:cNvPr id="42" name="Connecteur droit avec flèche 41">
              <a:extLst>
                <a:ext uri="{FF2B5EF4-FFF2-40B4-BE49-F238E27FC236}">
                  <a16:creationId xmlns:a16="http://schemas.microsoft.com/office/drawing/2014/main" id="{3E1D514A-7AF2-3953-3104-D969E91BE7A0}"/>
                </a:ext>
              </a:extLst>
            </p:cNvPr>
            <p:cNvCxnSpPr>
              <a:cxnSpLocks/>
              <a:stCxn id="15" idx="2"/>
              <a:endCxn id="41" idx="0"/>
            </p:cNvCxnSpPr>
            <p:nvPr/>
          </p:nvCxnSpPr>
          <p:spPr>
            <a:xfrm>
              <a:off x="13461641" y="7971863"/>
              <a:ext cx="0" cy="380697"/>
            </a:xfrm>
            <a:prstGeom prst="straightConnector1">
              <a:avLst/>
            </a:prstGeom>
            <a:ln w="31750"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27866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5" grpId="0" animBg="1"/>
      <p:bldP spid="3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20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17131197" y="9572211"/>
            <a:ext cx="6805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E" sz="2000" dirty="0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3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mpt Light"/>
              <a:ea typeface="Prompt Light"/>
              <a:cs typeface="Prompt Light"/>
              <a:sym typeface="Prompt Light"/>
            </a:endParaRPr>
          </a:p>
        </p:txBody>
      </p:sp>
      <p:sp>
        <p:nvSpPr>
          <p:cNvPr id="2" name="Google Shape;96;p2">
            <a:extLst>
              <a:ext uri="{FF2B5EF4-FFF2-40B4-BE49-F238E27FC236}">
                <a16:creationId xmlns:a16="http://schemas.microsoft.com/office/drawing/2014/main" id="{81103541-A0E3-1678-0997-00E8BDA04B6C}"/>
              </a:ext>
            </a:extLst>
          </p:cNvPr>
          <p:cNvSpPr txBox="1"/>
          <p:nvPr/>
        </p:nvSpPr>
        <p:spPr>
          <a:xfrm>
            <a:off x="998220" y="838047"/>
            <a:ext cx="16102497" cy="1300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81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Research Question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  <a:sym typeface="Arial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00359DBB-0114-BF96-2D01-9D6B177A017E}"/>
              </a:ext>
            </a:extLst>
          </p:cNvPr>
          <p:cNvCxnSpPr>
            <a:cxnSpLocks/>
          </p:cNvCxnSpPr>
          <p:nvPr/>
        </p:nvCxnSpPr>
        <p:spPr>
          <a:xfrm>
            <a:off x="858983" y="2008909"/>
            <a:ext cx="1643079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D25D49AE-A685-0FBD-2165-0AD0428155A8}"/>
              </a:ext>
            </a:extLst>
          </p:cNvPr>
          <p:cNvSpPr txBox="1"/>
          <p:nvPr/>
        </p:nvSpPr>
        <p:spPr>
          <a:xfrm>
            <a:off x="1000528" y="2509314"/>
            <a:ext cx="162915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i="1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What methods can mission designers use to systematically explore the design-space of space mission architectures in order to robustly identify the optimal pareto-set of low-cost architectures for their mission?</a:t>
            </a:r>
            <a:endParaRPr lang="fr-FR" sz="3200" i="1" dirty="0">
              <a:solidFill>
                <a:schemeClr val="bg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1" name="Google Shape;122;p5">
            <a:extLst>
              <a:ext uri="{FF2B5EF4-FFF2-40B4-BE49-F238E27FC236}">
                <a16:creationId xmlns:a16="http://schemas.microsoft.com/office/drawing/2014/main" id="{425142ED-7D91-1A1D-2799-AFE544238A9E}"/>
              </a:ext>
            </a:extLst>
          </p:cNvPr>
          <p:cNvSpPr/>
          <p:nvPr/>
        </p:nvSpPr>
        <p:spPr>
          <a:xfrm>
            <a:off x="3238701" y="4558181"/>
            <a:ext cx="5406347" cy="4643746"/>
          </a:xfrm>
          <a:custGeom>
            <a:avLst/>
            <a:gdLst/>
            <a:ahLst/>
            <a:cxnLst/>
            <a:rect l="l" t="t" r="r" b="b"/>
            <a:pathLst>
              <a:path w="3397874" h="3778145" extrusionOk="0">
                <a:moveTo>
                  <a:pt x="3273414" y="3778145"/>
                </a:moveTo>
                <a:lnTo>
                  <a:pt x="124460" y="3778145"/>
                </a:lnTo>
                <a:cubicBezTo>
                  <a:pt x="55880" y="3778145"/>
                  <a:pt x="0" y="3722265"/>
                  <a:pt x="0" y="3653685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73415" y="0"/>
                </a:lnTo>
                <a:cubicBezTo>
                  <a:pt x="3341994" y="0"/>
                  <a:pt x="3397874" y="55880"/>
                  <a:pt x="3397874" y="124460"/>
                </a:cubicBezTo>
                <a:lnTo>
                  <a:pt x="3397874" y="3653686"/>
                </a:lnTo>
                <a:cubicBezTo>
                  <a:pt x="3397874" y="3722265"/>
                  <a:pt x="3341994" y="3778145"/>
                  <a:pt x="3273415" y="3778145"/>
                </a:cubicBezTo>
                <a:close/>
              </a:path>
            </a:pathLst>
          </a:cu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3;p5">
            <a:extLst>
              <a:ext uri="{FF2B5EF4-FFF2-40B4-BE49-F238E27FC236}">
                <a16:creationId xmlns:a16="http://schemas.microsoft.com/office/drawing/2014/main" id="{2ECED476-6084-3CA6-5601-4CE5E654E384}"/>
              </a:ext>
            </a:extLst>
          </p:cNvPr>
          <p:cNvSpPr txBox="1"/>
          <p:nvPr/>
        </p:nvSpPr>
        <p:spPr>
          <a:xfrm>
            <a:off x="3493418" y="5871979"/>
            <a:ext cx="492065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8" indent="-342900">
              <a:lnSpc>
                <a:spcPct val="150000"/>
              </a:lnSpc>
              <a:buClr>
                <a:schemeClr val="lt1"/>
              </a:buClr>
              <a:buSzPts val="22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Houbolt Questions</a:t>
            </a:r>
          </a:p>
        </p:txBody>
      </p:sp>
      <p:grpSp>
        <p:nvGrpSpPr>
          <p:cNvPr id="13" name="Google Shape;124;p5">
            <a:extLst>
              <a:ext uri="{FF2B5EF4-FFF2-40B4-BE49-F238E27FC236}">
                <a16:creationId xmlns:a16="http://schemas.microsoft.com/office/drawing/2014/main" id="{E1B59D27-9D9D-A8F8-CBEA-28F6A212A53C}"/>
              </a:ext>
            </a:extLst>
          </p:cNvPr>
          <p:cNvGrpSpPr/>
          <p:nvPr/>
        </p:nvGrpSpPr>
        <p:grpSpPr>
          <a:xfrm>
            <a:off x="3238701" y="4558181"/>
            <a:ext cx="5406347" cy="915102"/>
            <a:chOff x="0" y="0"/>
            <a:chExt cx="7208463" cy="2325593"/>
          </a:xfrm>
        </p:grpSpPr>
        <p:sp>
          <p:nvSpPr>
            <p:cNvPr id="14" name="Google Shape;125;p5">
              <a:extLst>
                <a:ext uri="{FF2B5EF4-FFF2-40B4-BE49-F238E27FC236}">
                  <a16:creationId xmlns:a16="http://schemas.microsoft.com/office/drawing/2014/main" id="{1D256206-5B7D-062A-4D9D-D5F11B4FEA9E}"/>
                </a:ext>
              </a:extLst>
            </p:cNvPr>
            <p:cNvSpPr/>
            <p:nvPr/>
          </p:nvSpPr>
          <p:spPr>
            <a:xfrm>
              <a:off x="0" y="0"/>
              <a:ext cx="7208463" cy="2325593"/>
            </a:xfrm>
            <a:custGeom>
              <a:avLst/>
              <a:gdLst/>
              <a:ahLst/>
              <a:cxnLst/>
              <a:rect l="l" t="t" r="r" b="b"/>
              <a:pathLst>
                <a:path w="3397874" h="1096222" extrusionOk="0">
                  <a:moveTo>
                    <a:pt x="3273414" y="1096222"/>
                  </a:moveTo>
                  <a:lnTo>
                    <a:pt x="124460" y="1096222"/>
                  </a:lnTo>
                  <a:cubicBezTo>
                    <a:pt x="55880" y="1096222"/>
                    <a:pt x="0" y="1040342"/>
                    <a:pt x="0" y="97176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73415" y="0"/>
                  </a:lnTo>
                  <a:cubicBezTo>
                    <a:pt x="3341994" y="0"/>
                    <a:pt x="3397874" y="55880"/>
                    <a:pt x="3397874" y="124460"/>
                  </a:cubicBezTo>
                  <a:lnTo>
                    <a:pt x="3397874" y="971762"/>
                  </a:lnTo>
                  <a:cubicBezTo>
                    <a:pt x="3397874" y="1040342"/>
                    <a:pt x="3341994" y="1096222"/>
                    <a:pt x="3273415" y="1096222"/>
                  </a:cubicBezTo>
                  <a:close/>
                </a:path>
              </a:pathLst>
            </a:custGeom>
            <a:solidFill>
              <a:srgbClr val="911B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15" name="Google Shape;126;p5">
              <a:extLst>
                <a:ext uri="{FF2B5EF4-FFF2-40B4-BE49-F238E27FC236}">
                  <a16:creationId xmlns:a16="http://schemas.microsoft.com/office/drawing/2014/main" id="{44F09752-9672-B216-C386-DF5914A5E6D3}"/>
                </a:ext>
              </a:extLst>
            </p:cNvPr>
            <p:cNvSpPr txBox="1"/>
            <p:nvPr/>
          </p:nvSpPr>
          <p:spPr>
            <a:xfrm>
              <a:off x="53987" y="328274"/>
              <a:ext cx="7100488" cy="1657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 i="0" u="none" strike="noStrike" cap="none" dirty="0">
                  <a:solidFill>
                    <a:srgbClr val="FFFFFF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Prompt"/>
                </a:rPr>
                <a:t>A. Design Space Modelling</a:t>
              </a:r>
            </a:p>
          </p:txBody>
        </p:sp>
      </p:grpSp>
      <p:sp>
        <p:nvSpPr>
          <p:cNvPr id="16" name="Google Shape;127;p5">
            <a:extLst>
              <a:ext uri="{FF2B5EF4-FFF2-40B4-BE49-F238E27FC236}">
                <a16:creationId xmlns:a16="http://schemas.microsoft.com/office/drawing/2014/main" id="{6D952F8E-4D6F-33D8-5271-AE74F71E5730}"/>
              </a:ext>
            </a:extLst>
          </p:cNvPr>
          <p:cNvSpPr/>
          <p:nvPr/>
        </p:nvSpPr>
        <p:spPr>
          <a:xfrm>
            <a:off x="9068795" y="4558181"/>
            <a:ext cx="5406347" cy="4643746"/>
          </a:xfrm>
          <a:custGeom>
            <a:avLst/>
            <a:gdLst/>
            <a:ahLst/>
            <a:cxnLst/>
            <a:rect l="l" t="t" r="r" b="b"/>
            <a:pathLst>
              <a:path w="3397874" h="3778145" extrusionOk="0">
                <a:moveTo>
                  <a:pt x="3273414" y="3778145"/>
                </a:moveTo>
                <a:lnTo>
                  <a:pt x="124460" y="3778145"/>
                </a:lnTo>
                <a:cubicBezTo>
                  <a:pt x="55880" y="3778145"/>
                  <a:pt x="0" y="3722265"/>
                  <a:pt x="0" y="3653685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73415" y="0"/>
                </a:lnTo>
                <a:cubicBezTo>
                  <a:pt x="3341994" y="0"/>
                  <a:pt x="3397874" y="55880"/>
                  <a:pt x="3397874" y="124460"/>
                </a:cubicBezTo>
                <a:lnTo>
                  <a:pt x="3397874" y="3653686"/>
                </a:lnTo>
                <a:cubicBezTo>
                  <a:pt x="3397874" y="3722265"/>
                  <a:pt x="3341994" y="3778145"/>
                  <a:pt x="3273415" y="3778145"/>
                </a:cubicBezTo>
                <a:close/>
              </a:path>
            </a:pathLst>
          </a:cu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28;p5">
            <a:extLst>
              <a:ext uri="{FF2B5EF4-FFF2-40B4-BE49-F238E27FC236}">
                <a16:creationId xmlns:a16="http://schemas.microsoft.com/office/drawing/2014/main" id="{17F26E4F-BA92-923C-CF07-992ADE5A7CF3}"/>
              </a:ext>
            </a:extLst>
          </p:cNvPr>
          <p:cNvSpPr txBox="1"/>
          <p:nvPr/>
        </p:nvSpPr>
        <p:spPr>
          <a:xfrm>
            <a:off x="9323512" y="5871979"/>
            <a:ext cx="492065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ingdings" panose="05000000000000000000" pitchFamily="2" charset="2"/>
              <a:buChar char="Ø"/>
            </a:pPr>
            <a:r>
              <a:rPr lang="en-IE" sz="2400" b="0" i="0" u="none" strike="noStrike" cap="none" dirty="0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Life Cycle Cost CERs and MERs</a:t>
            </a:r>
          </a:p>
        </p:txBody>
      </p:sp>
      <p:grpSp>
        <p:nvGrpSpPr>
          <p:cNvPr id="18" name="Google Shape;129;p5">
            <a:extLst>
              <a:ext uri="{FF2B5EF4-FFF2-40B4-BE49-F238E27FC236}">
                <a16:creationId xmlns:a16="http://schemas.microsoft.com/office/drawing/2014/main" id="{85F432DD-D9E3-F92F-F327-5864A47A006F}"/>
              </a:ext>
            </a:extLst>
          </p:cNvPr>
          <p:cNvGrpSpPr/>
          <p:nvPr/>
        </p:nvGrpSpPr>
        <p:grpSpPr>
          <a:xfrm>
            <a:off x="9068795" y="4558181"/>
            <a:ext cx="5406347" cy="915102"/>
            <a:chOff x="0" y="0"/>
            <a:chExt cx="7208463" cy="2325593"/>
          </a:xfrm>
        </p:grpSpPr>
        <p:sp>
          <p:nvSpPr>
            <p:cNvPr id="19" name="Google Shape;130;p5">
              <a:extLst>
                <a:ext uri="{FF2B5EF4-FFF2-40B4-BE49-F238E27FC236}">
                  <a16:creationId xmlns:a16="http://schemas.microsoft.com/office/drawing/2014/main" id="{7A55F60E-067B-9BD6-2E5B-E4038AB94072}"/>
                </a:ext>
              </a:extLst>
            </p:cNvPr>
            <p:cNvSpPr/>
            <p:nvPr/>
          </p:nvSpPr>
          <p:spPr>
            <a:xfrm>
              <a:off x="0" y="0"/>
              <a:ext cx="7208463" cy="2325593"/>
            </a:xfrm>
            <a:custGeom>
              <a:avLst/>
              <a:gdLst/>
              <a:ahLst/>
              <a:cxnLst/>
              <a:rect l="l" t="t" r="r" b="b"/>
              <a:pathLst>
                <a:path w="3397874" h="1096222" extrusionOk="0">
                  <a:moveTo>
                    <a:pt x="3273414" y="1096222"/>
                  </a:moveTo>
                  <a:lnTo>
                    <a:pt x="124460" y="1096222"/>
                  </a:lnTo>
                  <a:cubicBezTo>
                    <a:pt x="55880" y="1096222"/>
                    <a:pt x="0" y="1040342"/>
                    <a:pt x="0" y="97176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73415" y="0"/>
                  </a:lnTo>
                  <a:cubicBezTo>
                    <a:pt x="3341994" y="0"/>
                    <a:pt x="3397874" y="55880"/>
                    <a:pt x="3397874" y="124460"/>
                  </a:cubicBezTo>
                  <a:lnTo>
                    <a:pt x="3397874" y="971762"/>
                  </a:lnTo>
                  <a:cubicBezTo>
                    <a:pt x="3397874" y="1040342"/>
                    <a:pt x="3341994" y="1096222"/>
                    <a:pt x="3273415" y="1096222"/>
                  </a:cubicBezTo>
                  <a:close/>
                </a:path>
              </a:pathLst>
            </a:custGeom>
            <a:solidFill>
              <a:srgbClr val="911B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20" name="Google Shape;131;p5">
              <a:extLst>
                <a:ext uri="{FF2B5EF4-FFF2-40B4-BE49-F238E27FC236}">
                  <a16:creationId xmlns:a16="http://schemas.microsoft.com/office/drawing/2014/main" id="{2BC23330-3763-43D5-BBE2-52AD6D5A7CEC}"/>
                </a:ext>
              </a:extLst>
            </p:cNvPr>
            <p:cNvSpPr txBox="1"/>
            <p:nvPr/>
          </p:nvSpPr>
          <p:spPr>
            <a:xfrm>
              <a:off x="435099" y="346134"/>
              <a:ext cx="6369923" cy="1657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 i="0" u="none" strike="noStrike" cap="none" dirty="0">
                  <a:solidFill>
                    <a:srgbClr val="FFFFFF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Prompt"/>
                </a:rPr>
                <a:t>B. Design Space Evaluation</a:t>
              </a:r>
              <a:endParaRPr sz="2600" b="1" i="0" u="none" strike="noStrike" cap="none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865706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20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17131197" y="9572211"/>
            <a:ext cx="6805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E" sz="2000" dirty="0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4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mpt Light"/>
              <a:ea typeface="Prompt Light"/>
              <a:cs typeface="Prompt Light"/>
              <a:sym typeface="Prompt Light"/>
            </a:endParaRPr>
          </a:p>
        </p:txBody>
      </p:sp>
      <p:sp>
        <p:nvSpPr>
          <p:cNvPr id="2" name="Google Shape;96;p2">
            <a:extLst>
              <a:ext uri="{FF2B5EF4-FFF2-40B4-BE49-F238E27FC236}">
                <a16:creationId xmlns:a16="http://schemas.microsoft.com/office/drawing/2014/main" id="{321F7C6F-EBC7-E72B-7905-73A374A15A4C}"/>
              </a:ext>
            </a:extLst>
          </p:cNvPr>
          <p:cNvSpPr txBox="1"/>
          <p:nvPr/>
        </p:nvSpPr>
        <p:spPr>
          <a:xfrm>
            <a:off x="998220" y="838047"/>
            <a:ext cx="16102497" cy="1300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81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A. Houbolt Questions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  <a:sym typeface="Arial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2EDEE974-4A4D-5637-C086-8F88D675B43C}"/>
              </a:ext>
            </a:extLst>
          </p:cNvPr>
          <p:cNvCxnSpPr/>
          <p:nvPr/>
        </p:nvCxnSpPr>
        <p:spPr>
          <a:xfrm>
            <a:off x="858983" y="2008909"/>
            <a:ext cx="1609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8C85A3E-DD8E-3FBC-5DD0-FCEF9305E2FD}"/>
              </a:ext>
            </a:extLst>
          </p:cNvPr>
          <p:cNvSpPr txBox="1"/>
          <p:nvPr/>
        </p:nvSpPr>
        <p:spPr>
          <a:xfrm>
            <a:off x="858982" y="2313333"/>
            <a:ext cx="1549766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E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Early design decisions with big performance impact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E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n-IE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</a:br>
            <a:endParaRPr kumimoji="0" lang="en-IE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E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  <a:sym typeface="Arial"/>
            </a:endParaRP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7B37CD12-650C-8F69-ECCE-E2B82CB66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1" y="3298719"/>
            <a:ext cx="6359708" cy="506835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8A7892A-044D-A51D-76F6-5726F59C7896}"/>
              </a:ext>
            </a:extLst>
          </p:cNvPr>
          <p:cNvSpPr txBox="1"/>
          <p:nvPr/>
        </p:nvSpPr>
        <p:spPr>
          <a:xfrm>
            <a:off x="11327382" y="4296914"/>
            <a:ext cx="39130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E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Direct Earth - Moon</a:t>
            </a:r>
            <a:endParaRPr kumimoji="0" lang="fr-FR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D77712F-B3D8-807D-193E-8893922AD571}"/>
              </a:ext>
            </a:extLst>
          </p:cNvPr>
          <p:cNvSpPr txBox="1"/>
          <p:nvPr/>
        </p:nvSpPr>
        <p:spPr>
          <a:xfrm>
            <a:off x="12862489" y="5330833"/>
            <a:ext cx="8428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E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OR</a:t>
            </a:r>
            <a:endParaRPr kumimoji="0" lang="fr-FR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97DE603-D11A-B3BE-EFDD-0ED9BF22D7A2}"/>
              </a:ext>
            </a:extLst>
          </p:cNvPr>
          <p:cNvSpPr txBox="1"/>
          <p:nvPr/>
        </p:nvSpPr>
        <p:spPr>
          <a:xfrm>
            <a:off x="11532023" y="6364752"/>
            <a:ext cx="39130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E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Lunar Orbit RDV</a:t>
            </a:r>
            <a:endParaRPr kumimoji="0" lang="fr-FR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FC72887-8E2B-DB5B-D5C6-6B02B2102564}"/>
              </a:ext>
            </a:extLst>
          </p:cNvPr>
          <p:cNvSpPr txBox="1"/>
          <p:nvPr/>
        </p:nvSpPr>
        <p:spPr>
          <a:xfrm>
            <a:off x="858982" y="8460777"/>
            <a:ext cx="5355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John </a:t>
            </a:r>
            <a:r>
              <a:rPr kumimoji="0" lang="en-US" sz="1600" b="0" i="1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Houbolt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 pushing the Lunar Orbit RDV idea (1962)</a:t>
            </a:r>
            <a:endParaRPr kumimoji="0" lang="fr-FR" sz="1600" b="0" i="1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85000"/>
                </a:srgbClr>
              </a:solidFill>
              <a:effectLst/>
              <a:uLnTx/>
              <a:uFillTx/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  <a:sym typeface="Arial"/>
            </a:endParaRPr>
          </a:p>
        </p:txBody>
      </p:sp>
      <p:sp>
        <p:nvSpPr>
          <p:cNvPr id="5" name="ZoneTexte 9">
            <a:extLst>
              <a:ext uri="{FF2B5EF4-FFF2-40B4-BE49-F238E27FC236}">
                <a16:creationId xmlns:a16="http://schemas.microsoft.com/office/drawing/2014/main" id="{C38FCB23-F8CF-0949-DBE2-132FE63D96B1}"/>
              </a:ext>
            </a:extLst>
          </p:cNvPr>
          <p:cNvSpPr txBox="1"/>
          <p:nvPr/>
        </p:nvSpPr>
        <p:spPr>
          <a:xfrm>
            <a:off x="10775436" y="8799331"/>
            <a:ext cx="61825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E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Inspiration for the following</a:t>
            </a:r>
            <a:endParaRPr kumimoji="0" lang="fr-FR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6513808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20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17131197" y="9572211"/>
            <a:ext cx="6805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E" sz="2000" dirty="0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5</a:t>
            </a:r>
          </a:p>
        </p:txBody>
      </p:sp>
      <p:sp>
        <p:nvSpPr>
          <p:cNvPr id="2" name="Google Shape;96;p2">
            <a:extLst>
              <a:ext uri="{FF2B5EF4-FFF2-40B4-BE49-F238E27FC236}">
                <a16:creationId xmlns:a16="http://schemas.microsoft.com/office/drawing/2014/main" id="{321F7C6F-EBC7-E72B-7905-73A374A15A4C}"/>
              </a:ext>
            </a:extLst>
          </p:cNvPr>
          <p:cNvSpPr txBox="1"/>
          <p:nvPr/>
        </p:nvSpPr>
        <p:spPr>
          <a:xfrm>
            <a:off x="998220" y="838047"/>
            <a:ext cx="16102497" cy="1300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81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6600" b="1" noProof="0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A</a:t>
            </a:r>
            <a:r>
              <a:rPr kumimoji="0" 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. Design Space Modelling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  <a:sym typeface="Arial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2EDEE974-4A4D-5637-C086-8F88D675B43C}"/>
              </a:ext>
            </a:extLst>
          </p:cNvPr>
          <p:cNvCxnSpPr/>
          <p:nvPr/>
        </p:nvCxnSpPr>
        <p:spPr>
          <a:xfrm>
            <a:off x="858983" y="2008909"/>
            <a:ext cx="1609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F6AF2246-D637-A163-C51D-88D38D8FA798}"/>
              </a:ext>
            </a:extLst>
          </p:cNvPr>
          <p:cNvSpPr/>
          <p:nvPr/>
        </p:nvSpPr>
        <p:spPr>
          <a:xfrm>
            <a:off x="13346897" y="4618502"/>
            <a:ext cx="4048762" cy="151808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constructor</a:t>
            </a:r>
            <a:endParaRPr lang="fr-FR" sz="4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8B7A3E-9725-E921-6DE6-2F550B04CFCB}"/>
              </a:ext>
            </a:extLst>
          </p:cNvPr>
          <p:cNvSpPr/>
          <p:nvPr/>
        </p:nvSpPr>
        <p:spPr>
          <a:xfrm>
            <a:off x="13453920" y="7045464"/>
            <a:ext cx="3834716" cy="115981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Solution </a:t>
            </a:r>
            <a:r>
              <a:rPr lang="fr-FR" sz="36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space</a:t>
            </a:r>
            <a:endParaRPr lang="fr-FR" sz="36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5308E6F3-DE13-1036-F511-7060BB65801C}"/>
                  </a:ext>
                </a:extLst>
              </p:cNvPr>
              <p:cNvSpPr txBox="1"/>
              <p:nvPr/>
            </p:nvSpPr>
            <p:spPr>
              <a:xfrm>
                <a:off x="12519589" y="8621240"/>
                <a:ext cx="610483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3200" dirty="0">
                    <a:solidFill>
                      <a:schemeClr val="bg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Solution </a:t>
                </a:r>
                <a:r>
                  <a:rPr lang="fr-FR" sz="3200" dirty="0" err="1">
                    <a:solidFill>
                      <a:schemeClr val="bg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space</a:t>
                </a:r>
                <a:r>
                  <a:rPr lang="fr-FR" sz="3200" dirty="0">
                    <a:solidFill>
                      <a:schemeClr val="bg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3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⊂</m:t>
                    </m:r>
                    <m:r>
                      <a:rPr lang="en-IE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 </m:t>
                    </m:r>
                  </m:oMath>
                </a14:m>
                <a:r>
                  <a:rPr lang="fr-FR" sz="3200" dirty="0">
                    <a:solidFill>
                      <a:schemeClr val="bg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Design </a:t>
                </a:r>
                <a:r>
                  <a:rPr lang="fr-FR" sz="3200" dirty="0" err="1">
                    <a:solidFill>
                      <a:schemeClr val="bg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space</a:t>
                </a:r>
                <a:endParaRPr lang="fr-FR" sz="3200" dirty="0">
                  <a:solidFill>
                    <a:schemeClr val="bg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</mc:Choice>
        <mc:Fallback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5308E6F3-DE13-1036-F511-7060BB658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9589" y="8621240"/>
                <a:ext cx="6104832" cy="584775"/>
              </a:xfrm>
              <a:prstGeom prst="rect">
                <a:avLst/>
              </a:prstGeom>
              <a:blipFill>
                <a:blip r:embed="rId3"/>
                <a:stretch>
                  <a:fillRect l="-2597" t="-11458" b="-35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Objet 13">
            <a:extLst>
              <a:ext uri="{FF2B5EF4-FFF2-40B4-BE49-F238E27FC236}">
                <a16:creationId xmlns:a16="http://schemas.microsoft.com/office/drawing/2014/main" id="{B2E74F37-F9C0-BD50-52DC-A21C38513A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7675"/>
              </p:ext>
            </p:extLst>
          </p:nvPr>
        </p:nvGraphicFramePr>
        <p:xfrm>
          <a:off x="886902" y="3070152"/>
          <a:ext cx="10906125" cy="684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119622" imgH="3843187" progId="Excel.Sheet.12">
                  <p:embed/>
                </p:oleObj>
              </mc:Choice>
              <mc:Fallback>
                <p:oleObj name="Worksheet" r:id="rId4" imgW="6119622" imgH="384318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86902" y="3070152"/>
                        <a:ext cx="10906125" cy="68468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Accolade fermante 16">
            <a:extLst>
              <a:ext uri="{FF2B5EF4-FFF2-40B4-BE49-F238E27FC236}">
                <a16:creationId xmlns:a16="http://schemas.microsoft.com/office/drawing/2014/main" id="{349605D3-DAD7-2C22-8F5C-18D61AF8BB84}"/>
              </a:ext>
            </a:extLst>
          </p:cNvPr>
          <p:cNvSpPr/>
          <p:nvPr/>
        </p:nvSpPr>
        <p:spPr>
          <a:xfrm>
            <a:off x="11802712" y="3733119"/>
            <a:ext cx="590551" cy="5265602"/>
          </a:xfrm>
          <a:prstGeom prst="rightBrac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Connecteur : en angle 18">
            <a:extLst>
              <a:ext uri="{FF2B5EF4-FFF2-40B4-BE49-F238E27FC236}">
                <a16:creationId xmlns:a16="http://schemas.microsoft.com/office/drawing/2014/main" id="{776A82F6-0087-D98C-4706-DDCF9E4DB282}"/>
              </a:ext>
            </a:extLst>
          </p:cNvPr>
          <p:cNvCxnSpPr>
            <a:cxnSpLocks/>
            <a:stCxn id="17" idx="1"/>
            <a:endCxn id="6" idx="0"/>
          </p:cNvCxnSpPr>
          <p:nvPr/>
        </p:nvCxnSpPr>
        <p:spPr>
          <a:xfrm rot="10800000" flipH="1">
            <a:off x="12393262" y="4618502"/>
            <a:ext cx="2978015" cy="1747418"/>
          </a:xfrm>
          <a:prstGeom prst="bentConnector4">
            <a:avLst>
              <a:gd name="adj1" fmla="val 18981"/>
              <a:gd name="adj2" fmla="val 163750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A9550C5-AD42-E4AA-2D59-EF9186FE231B}"/>
              </a:ext>
            </a:extLst>
          </p:cNvPr>
          <p:cNvSpPr/>
          <p:nvPr/>
        </p:nvSpPr>
        <p:spPr>
          <a:xfrm>
            <a:off x="886902" y="5828937"/>
            <a:ext cx="10918555" cy="4272192"/>
          </a:xfrm>
          <a:prstGeom prst="rect">
            <a:avLst/>
          </a:prstGeom>
          <a:solidFill>
            <a:srgbClr val="0909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ZoneTexte 24">
            <a:extLst>
              <a:ext uri="{FF2B5EF4-FFF2-40B4-BE49-F238E27FC236}">
                <a16:creationId xmlns:a16="http://schemas.microsoft.com/office/drawing/2014/main" id="{08545690-5BBC-10DC-C5CF-1DE663130D76}"/>
              </a:ext>
            </a:extLst>
          </p:cNvPr>
          <p:cNvSpPr txBox="1"/>
          <p:nvPr/>
        </p:nvSpPr>
        <p:spPr>
          <a:xfrm>
            <a:off x="773325" y="2237946"/>
            <a:ext cx="131278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4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What and How?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962B33F-4256-3DBE-D57F-6BB25035589E}"/>
              </a:ext>
            </a:extLst>
          </p:cNvPr>
          <p:cNvCxnSpPr>
            <a:cxnSpLocks/>
            <a:stCxn id="6" idx="4"/>
            <a:endCxn id="16" idx="0"/>
          </p:cNvCxnSpPr>
          <p:nvPr/>
        </p:nvCxnSpPr>
        <p:spPr>
          <a:xfrm>
            <a:off x="15371278" y="6136586"/>
            <a:ext cx="0" cy="908878"/>
          </a:xfrm>
          <a:prstGeom prst="straightConnector1">
            <a:avLst/>
          </a:prstGeom>
          <a:ln w="571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80822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11" grpId="0"/>
      <p:bldP spid="17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20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17131197" y="9572211"/>
            <a:ext cx="6805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mpt Light"/>
                <a:ea typeface="Prompt Light"/>
                <a:cs typeface="Prompt Light"/>
                <a:sym typeface="Prompt Light"/>
              </a:rPr>
              <a:t>6</a:t>
            </a:r>
          </a:p>
        </p:txBody>
      </p:sp>
      <p:sp>
        <p:nvSpPr>
          <p:cNvPr id="2" name="Google Shape;96;p2">
            <a:extLst>
              <a:ext uri="{FF2B5EF4-FFF2-40B4-BE49-F238E27FC236}">
                <a16:creationId xmlns:a16="http://schemas.microsoft.com/office/drawing/2014/main" id="{81103541-A0E3-1678-0997-00E8BDA04B6C}"/>
              </a:ext>
            </a:extLst>
          </p:cNvPr>
          <p:cNvSpPr txBox="1"/>
          <p:nvPr/>
        </p:nvSpPr>
        <p:spPr>
          <a:xfrm>
            <a:off x="998220" y="838047"/>
            <a:ext cx="16102497" cy="1300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81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6600" b="1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B</a:t>
            </a:r>
            <a:r>
              <a:rPr kumimoji="0" 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. Design Space Evaluation - Cost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  <a:sym typeface="Arial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00359DBB-0114-BF96-2D01-9D6B177A017E}"/>
              </a:ext>
            </a:extLst>
          </p:cNvPr>
          <p:cNvCxnSpPr/>
          <p:nvPr/>
        </p:nvCxnSpPr>
        <p:spPr>
          <a:xfrm>
            <a:off x="858983" y="2008909"/>
            <a:ext cx="1609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8209598C-C968-EBFB-84D2-2419B9624CBF}"/>
                  </a:ext>
                </a:extLst>
              </p:cNvPr>
              <p:cNvSpPr txBox="1"/>
              <p:nvPr/>
            </p:nvSpPr>
            <p:spPr>
              <a:xfrm>
                <a:off x="0" y="3064377"/>
                <a:ext cx="7404848" cy="11507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E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𝐶𝐶</m:t>
                          </m:r>
                        </m:sub>
                      </m:sSub>
                      <m:r>
                        <a:rPr lang="en-IE" sz="3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IE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E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𝑑𝑑𝑡𝑒</m:t>
                          </m:r>
                        </m:sub>
                      </m:sSub>
                      <m:r>
                        <a:rPr lang="en-IE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E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E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IE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E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E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IE" sz="3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E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E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fr-FR" sz="3600" dirty="0">
                  <a:solidFill>
                    <a:schemeClr val="bg1"/>
                  </a:solidFill>
                </a:endParaRPr>
              </a:p>
              <a:p>
                <a:endParaRPr lang="fr-FR" sz="3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8209598C-C968-EBFB-84D2-2419B9624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64377"/>
                <a:ext cx="7404848" cy="11507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58DA204-4E46-ECD4-21E5-7424C19A740D}"/>
                  </a:ext>
                </a:extLst>
              </p:cNvPr>
              <p:cNvSpPr txBox="1"/>
              <p:nvPr/>
            </p:nvSpPr>
            <p:spPr>
              <a:xfrm>
                <a:off x="730757" y="4272048"/>
                <a:ext cx="9144000" cy="44439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fr-FR" sz="3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Cost Estimation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e>
                        <m:sub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𝑑𝑑𝑡𝑒</m:t>
                          </m:r>
                        </m:sub>
                      </m:sSub>
                      <m:r>
                        <a:rPr kumimoji="0" lang="en-IE" sz="3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𝑓</m:t>
                          </m:r>
                        </m:e>
                        <m:sub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sub>
                      </m:sSub>
                      <m:r>
                        <a:rPr kumimoji="0" lang="en-IE" sz="3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kumimoji="0" lang="en-IE" sz="3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𝑚</m:t>
                      </m:r>
                      <m:r>
                        <a:rPr kumimoji="0" lang="en-IE" sz="3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, </m:t>
                      </m:r>
                      <m:r>
                        <a:rPr kumimoji="0" lang="en-IE" sz="3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𝐶𝑃𝐿𝑋</m:t>
                      </m:r>
                      <m:r>
                        <a:rPr kumimoji="0" lang="en-IE" sz="3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)</m:t>
                      </m:r>
                    </m:oMath>
                  </m:oMathPara>
                </a14:m>
                <a:endParaRPr kumimoji="0" lang="fr-FR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e>
                        <m:sub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𝑝</m:t>
                          </m:r>
                        </m:sub>
                      </m:sSub>
                      <m:r>
                        <a:rPr kumimoji="0" lang="en-IE" sz="3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kumimoji="0" lang="en-IE" sz="36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36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𝑓</m:t>
                          </m:r>
                        </m:e>
                        <m:sub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𝑚</m:t>
                          </m:r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, </m:t>
                          </m:r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𝐶𝑃𝐿𝑋</m:t>
                          </m:r>
                        </m:e>
                      </m:d>
                    </m:oMath>
                  </m:oMathPara>
                </a14:m>
                <a:endParaRPr kumimoji="0" lang="fr-FR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e>
                        <m:sub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𝑜</m:t>
                          </m:r>
                        </m:sub>
                      </m:sSub>
                      <m:r>
                        <a:rPr kumimoji="0" lang="en-IE" sz="3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kumimoji="0" lang="en-IE" sz="36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36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𝑓</m:t>
                          </m:r>
                        </m:e>
                        <m:sub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𝑚</m:t>
                          </m:r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, </m:t>
                          </m:r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𝐶𝑃𝐿𝑋</m:t>
                          </m:r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, </m:t>
                          </m:r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kumimoji="0" lang="fr-FR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e>
                        <m:sub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𝑑</m:t>
                          </m:r>
                        </m:sub>
                      </m:sSub>
                      <m:r>
                        <a:rPr kumimoji="0" lang="en-IE" sz="3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kumimoji="0" lang="en-IE" sz="36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36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𝑓</m:t>
                          </m:r>
                        </m:e>
                        <m:sub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𝑑</m:t>
                          </m:r>
                        </m:sub>
                      </m:sSub>
                      <m:r>
                        <a:rPr kumimoji="0" lang="en-IE" sz="3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sSub>
                        <m:sSubPr>
                          <m:ctrlP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e>
                        <m:sub>
                          <m:r>
                            <a:rPr kumimoji="0" lang="en-IE" sz="3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𝑜</m:t>
                          </m:r>
                        </m:sub>
                      </m:sSub>
                      <m:r>
                        <a:rPr kumimoji="0" lang="en-IE" sz="3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, </m:t>
                      </m:r>
                      <m:r>
                        <a:rPr kumimoji="0" lang="en-IE" sz="3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𝑀𝐾𝑇</m:t>
                      </m:r>
                      <m:r>
                        <a:rPr kumimoji="0" lang="en-IE" sz="3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)</m:t>
                      </m:r>
                    </m:oMath>
                  </m:oMathPara>
                </a14:m>
                <a:endParaRPr kumimoji="0" lang="fr-FR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fr-FR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fr-FR" sz="3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Advanced Mission </a:t>
                </a:r>
                <a:r>
                  <a:rPr kumimoji="0" lang="fr-FR" sz="3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Cost</a:t>
                </a:r>
                <a:r>
                  <a:rPr kumimoji="0" lang="fr-FR" sz="3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 Model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fr-FR" sz="3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TruePlanning</a:t>
                </a:r>
                <a:endParaRPr kumimoji="0" lang="fr-FR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58DA204-4E46-ECD4-21E5-7424C19A7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57" y="4272048"/>
                <a:ext cx="9144000" cy="4443973"/>
              </a:xfrm>
              <a:prstGeom prst="rect">
                <a:avLst/>
              </a:prstGeom>
              <a:blipFill>
                <a:blip r:embed="rId4"/>
                <a:stretch>
                  <a:fillRect l="-2067" t="-2195" b="-35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589775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20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17131197" y="9572211"/>
            <a:ext cx="6805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000" dirty="0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7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mpt Light"/>
              <a:ea typeface="Prompt Light"/>
              <a:cs typeface="Prompt Light"/>
              <a:sym typeface="Prompt Light"/>
            </a:endParaRPr>
          </a:p>
        </p:txBody>
      </p:sp>
      <p:sp>
        <p:nvSpPr>
          <p:cNvPr id="2" name="Google Shape;96;p2">
            <a:extLst>
              <a:ext uri="{FF2B5EF4-FFF2-40B4-BE49-F238E27FC236}">
                <a16:creationId xmlns:a16="http://schemas.microsoft.com/office/drawing/2014/main" id="{81103541-A0E3-1678-0997-00E8BDA04B6C}"/>
              </a:ext>
            </a:extLst>
          </p:cNvPr>
          <p:cNvSpPr txBox="1"/>
          <p:nvPr/>
        </p:nvSpPr>
        <p:spPr>
          <a:xfrm>
            <a:off x="998220" y="838047"/>
            <a:ext cx="16102497" cy="1300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81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B. Design Space Evaluation - Cost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  <a:sym typeface="Arial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00359DBB-0114-BF96-2D01-9D6B177A017E}"/>
              </a:ext>
            </a:extLst>
          </p:cNvPr>
          <p:cNvCxnSpPr/>
          <p:nvPr/>
        </p:nvCxnSpPr>
        <p:spPr>
          <a:xfrm>
            <a:off x="858983" y="2008909"/>
            <a:ext cx="1609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A15EFEBF-9F9E-A0FF-9B2C-A56CD041C2DC}"/>
              </a:ext>
            </a:extLst>
          </p:cNvPr>
          <p:cNvSpPr txBox="1"/>
          <p:nvPr/>
        </p:nvSpPr>
        <p:spPr>
          <a:xfrm>
            <a:off x="5789029" y="2168751"/>
            <a:ext cx="623888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E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Mass Estimation Relationships</a:t>
            </a:r>
          </a:p>
        </p:txBody>
      </p:sp>
      <p:pic>
        <p:nvPicPr>
          <p:cNvPr id="38" name="Image 37" descr="Une image contenant texte, capture d’écran, ligne, diagramme&#10;&#10;Description générée automatiquement">
            <a:extLst>
              <a:ext uri="{FF2B5EF4-FFF2-40B4-BE49-F238E27FC236}">
                <a16:creationId xmlns:a16="http://schemas.microsoft.com/office/drawing/2014/main" id="{F45245FE-579B-1CFC-280E-92E0EA9563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6" r="3061"/>
          <a:stretch/>
        </p:blipFill>
        <p:spPr>
          <a:xfrm>
            <a:off x="299221" y="4130745"/>
            <a:ext cx="5368771" cy="3971131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7383AC37-BE01-24B6-F41C-31D163BB01C2}"/>
              </a:ext>
            </a:extLst>
          </p:cNvPr>
          <p:cNvSpPr txBox="1"/>
          <p:nvPr/>
        </p:nvSpPr>
        <p:spPr>
          <a:xfrm>
            <a:off x="858983" y="3315386"/>
            <a:ext cx="48090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E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Lunar lander MERs [5]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5C5E803-C893-97A5-21AF-284DE606A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3939" y="4118005"/>
            <a:ext cx="5170626" cy="395292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827428A-9DD5-2A17-971C-AD108EA2B536}"/>
              </a:ext>
            </a:extLst>
          </p:cNvPr>
          <p:cNvSpPr txBox="1"/>
          <p:nvPr/>
        </p:nvSpPr>
        <p:spPr>
          <a:xfrm>
            <a:off x="13415328" y="3335199"/>
            <a:ext cx="3542636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E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Orbiter MERs [6]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5849023-36E7-E019-2DCA-2473157D7F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6136" y="4124375"/>
            <a:ext cx="6454890" cy="394018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FCF6D85-472E-0595-5091-51449DA5828C}"/>
              </a:ext>
            </a:extLst>
          </p:cNvPr>
          <p:cNvSpPr txBox="1"/>
          <p:nvPr/>
        </p:nvSpPr>
        <p:spPr>
          <a:xfrm>
            <a:off x="6480229" y="3315386"/>
            <a:ext cx="5286704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E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Transfer vehicle MERs [5]</a:t>
            </a:r>
          </a:p>
        </p:txBody>
      </p:sp>
    </p:spTree>
    <p:extLst>
      <p:ext uri="{BB962C8B-B14F-4D97-AF65-F5344CB8AC3E}">
        <p14:creationId xmlns:p14="http://schemas.microsoft.com/office/powerpoint/2010/main" val="931457420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20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17131197" y="9572211"/>
            <a:ext cx="6805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000" dirty="0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8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mpt Light"/>
              <a:ea typeface="Prompt Light"/>
              <a:cs typeface="Prompt Light"/>
              <a:sym typeface="Prompt Light"/>
            </a:endParaRPr>
          </a:p>
        </p:txBody>
      </p:sp>
      <p:sp>
        <p:nvSpPr>
          <p:cNvPr id="2" name="Google Shape;96;p2">
            <a:extLst>
              <a:ext uri="{FF2B5EF4-FFF2-40B4-BE49-F238E27FC236}">
                <a16:creationId xmlns:a16="http://schemas.microsoft.com/office/drawing/2014/main" id="{321F7C6F-EBC7-E72B-7905-73A374A15A4C}"/>
              </a:ext>
            </a:extLst>
          </p:cNvPr>
          <p:cNvSpPr txBox="1"/>
          <p:nvPr/>
        </p:nvSpPr>
        <p:spPr>
          <a:xfrm>
            <a:off x="998220" y="838047"/>
            <a:ext cx="16102497" cy="1300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81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Modelling to Evaluation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2EDEE974-4A4D-5637-C086-8F88D675B43C}"/>
              </a:ext>
            </a:extLst>
          </p:cNvPr>
          <p:cNvCxnSpPr/>
          <p:nvPr/>
        </p:nvCxnSpPr>
        <p:spPr>
          <a:xfrm>
            <a:off x="858983" y="2008909"/>
            <a:ext cx="1609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2A00AD63-C4DD-6D85-EAD9-8A3018A7714A}"/>
                  </a:ext>
                </a:extLst>
              </p:cNvPr>
              <p:cNvSpPr txBox="1"/>
              <p:nvPr/>
            </p:nvSpPr>
            <p:spPr>
              <a:xfrm>
                <a:off x="9781140" y="2749911"/>
                <a:ext cx="7744377" cy="6494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IE" sz="3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Link functions connect Houbolt question to cost elements. 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endParaRPr kumimoji="0" lang="en-IE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endParaRPr>
              </a:p>
              <a:p>
                <a:pPr marL="457200" indent="-457200">
                  <a:buClr>
                    <a:srgbClr val="FFFFFF"/>
                  </a:buClr>
                  <a:buFont typeface="Wingdings" panose="05000000000000000000" pitchFamily="2" charset="2"/>
                  <a:buChar char="Ø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fr-FR" sz="3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fr-FR" sz="3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  <a:sym typeface="Arial"/>
                          </a:rPr>
                          <m:t>𝑓</m:t>
                        </m:r>
                      </m:e>
                      <m:sub>
                        <m:r>
                          <a:rPr kumimoji="0" lang="fr-FR" sz="3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fr-FR" sz="3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3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</m:ctrlPr>
                      </m:sSubPr>
                      <m:e>
                        <m:r>
                          <a:rPr lang="fr-FR" sz="3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𝑓</m:t>
                        </m:r>
                      </m:e>
                      <m:sub>
                        <m:r>
                          <a:rPr lang="fr-FR" sz="3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are </a:t>
                </a:r>
                <a:r>
                  <a:rPr lang="fr-FR" sz="3200" dirty="0" err="1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parametic</a:t>
                </a:r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:r>
                  <a:rPr lang="fr-FR" sz="3200" dirty="0" err="1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sizing</a:t>
                </a:r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:r>
                  <a:rPr lang="fr-FR" sz="3200" dirty="0" err="1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rules</a:t>
                </a:r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and </a:t>
                </a:r>
                <a:r>
                  <a:rPr lang="fr-FR" sz="3200" dirty="0" err="1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specific</a:t>
                </a:r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:r>
                  <a:rPr lang="fr-FR" sz="3200" dirty="0" err="1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CERs</a:t>
                </a:r>
                <a:endParaRPr lang="fr-FR" sz="3200" dirty="0">
                  <a:solidFill>
                    <a:srgbClr val="FFFFFF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457200" indent="-457200">
                  <a:buClr>
                    <a:srgbClr val="FFFFFF"/>
                  </a:buClr>
                  <a:buFont typeface="Wingdings" panose="05000000000000000000" pitchFamily="2" charset="2"/>
                  <a:buChar char="Ø"/>
                  <a:defRPr/>
                </a:pPr>
                <a:endParaRPr lang="fr-FR" sz="3200" dirty="0">
                  <a:solidFill>
                    <a:srgbClr val="FFFFFF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457200" indent="-457200">
                  <a:buClr>
                    <a:srgbClr val="FFFFFF"/>
                  </a:buClr>
                  <a:buFont typeface="Wingdings" panose="05000000000000000000" pitchFamily="2" charset="2"/>
                  <a:buChar char="Ø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fr-FR" sz="3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fr-FR" sz="3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  <a:sym typeface="Arial"/>
                          </a:rPr>
                          <m:t>𝑓</m:t>
                        </m:r>
                      </m:e>
                      <m:sub>
                        <m:r>
                          <a:rPr kumimoji="0" lang="fr-FR" sz="3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  <a:sym typeface="Arial"/>
                          </a:rPr>
                          <m:t>3</m:t>
                        </m:r>
                      </m:sub>
                    </m:sSub>
                  </m:oMath>
                </a14:m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:r>
                  <a:rPr lang="fr-FR" sz="3200" dirty="0" err="1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is</a:t>
                </a:r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a launch </a:t>
                </a:r>
                <a:r>
                  <a:rPr lang="fr-FR" sz="3200" dirty="0" err="1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cost</a:t>
                </a:r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:r>
                  <a:rPr lang="fr-FR" sz="3200" dirty="0" err="1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function</a:t>
                </a:r>
                <a:endParaRPr lang="fr-FR" sz="3200" dirty="0">
                  <a:solidFill>
                    <a:srgbClr val="FFFFFF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457200" indent="-457200">
                  <a:buClr>
                    <a:srgbClr val="FFFFFF"/>
                  </a:buClr>
                  <a:buFont typeface="Wingdings" panose="05000000000000000000" pitchFamily="2" charset="2"/>
                  <a:buChar char="Ø"/>
                  <a:defRPr/>
                </a:pPr>
                <a:endParaRPr lang="fr-FR" sz="3200" dirty="0">
                  <a:solidFill>
                    <a:srgbClr val="FFFFFF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457200" indent="-457200">
                  <a:buClr>
                    <a:srgbClr val="FFFFFF"/>
                  </a:buClr>
                  <a:buFont typeface="Wingdings" panose="05000000000000000000" pitchFamily="2" charset="2"/>
                  <a:buChar char="Ø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fr-FR" sz="3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fr-FR" sz="3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  <a:sym typeface="Arial"/>
                          </a:rPr>
                          <m:t>𝑓</m:t>
                        </m:r>
                      </m:e>
                      <m:sub>
                        <m:r>
                          <a:rPr kumimoji="0" lang="fr-FR" sz="3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  <a:sym typeface="Arial"/>
                          </a:rPr>
                          <m:t>4</m:t>
                        </m:r>
                      </m:sub>
                    </m:sSub>
                  </m:oMath>
                </a14:m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:r>
                  <a:rPr lang="fr-FR" sz="3200" dirty="0" err="1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is</a:t>
                </a:r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a CER </a:t>
                </a:r>
                <a:r>
                  <a:rPr lang="fr-FR" sz="3200" dirty="0" err="1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based</a:t>
                </a:r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on </a:t>
                </a:r>
                <a:r>
                  <a:rPr lang="fr-FR" sz="3200" dirty="0" err="1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ground</a:t>
                </a:r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station </a:t>
                </a:r>
                <a:r>
                  <a:rPr lang="fr-FR" sz="3200" dirty="0" err="1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dish</a:t>
                </a:r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:r>
                  <a:rPr lang="fr-FR" sz="3200" dirty="0" err="1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diameter</a:t>
                </a:r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Wingdings" panose="05000000000000000000" pitchFamily="2" charset="2"/>
                  </a:rPr>
                  <a:t> </a:t>
                </a:r>
                <a:r>
                  <a:rPr lang="fr-FR" sz="3200" dirty="0" err="1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Wingdings" panose="05000000000000000000" pitchFamily="2" charset="2"/>
                  </a:rPr>
                  <a:t>link</a:t>
                </a:r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Wingdings" panose="05000000000000000000" pitchFamily="2" charset="2"/>
                  </a:rPr>
                  <a:t>-budget.</a:t>
                </a:r>
              </a:p>
              <a:p>
                <a:pPr marL="457200" indent="-457200">
                  <a:buClr>
                    <a:srgbClr val="FFFFFF"/>
                  </a:buClr>
                  <a:buFont typeface="Wingdings" panose="05000000000000000000" pitchFamily="2" charset="2"/>
                  <a:buChar char="Ø"/>
                  <a:defRPr/>
                </a:pPr>
                <a:endParaRPr lang="fr-FR" sz="3200" dirty="0">
                  <a:solidFill>
                    <a:srgbClr val="FFFFFF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Wingdings" panose="05000000000000000000" pitchFamily="2" charset="2"/>
                </a:endParaRPr>
              </a:p>
              <a:p>
                <a:pPr marL="457200" indent="-457200">
                  <a:buClr>
                    <a:srgbClr val="FFFFFF"/>
                  </a:buClr>
                  <a:buFont typeface="Wingdings" panose="05000000000000000000" pitchFamily="2" charset="2"/>
                  <a:buChar char="Ø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fr-FR" sz="3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fr-FR" sz="3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  <a:sym typeface="Arial"/>
                          </a:rPr>
                          <m:t>𝑓</m:t>
                        </m:r>
                      </m:e>
                      <m:sub>
                        <m:r>
                          <a:rPr kumimoji="0" lang="fr-FR" sz="3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  <a:sym typeface="Arial"/>
                          </a:rPr>
                          <m:t>5</m:t>
                        </m:r>
                      </m:sub>
                    </m:sSub>
                    <m:r>
                      <a:rPr kumimoji="0" lang="en-GB" sz="32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MU Sans Serif" panose="02000603000000000000" pitchFamily="2" charset="0"/>
                        <a:cs typeface="CMU Sans Serif" panose="02000603000000000000" pitchFamily="2" charset="0"/>
                        <a:sym typeface="Arial"/>
                      </a:rPr>
                      <m:t>,</m:t>
                    </m:r>
                  </m:oMath>
                </a14:m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3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</m:ctrlPr>
                      </m:sSubPr>
                      <m:e>
                        <m:r>
                          <a:rPr lang="fr-FR" sz="3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𝑓</m:t>
                        </m:r>
                      </m:e>
                      <m:sub>
                        <m:r>
                          <a:rPr lang="fr-FR" sz="3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3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</m:ctrlPr>
                      </m:sSubPr>
                      <m:e>
                        <m:r>
                          <a:rPr lang="fr-FR" sz="3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𝑓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7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MU Sans Serif" panose="02000603000000000000" pitchFamily="2" charset="0"/>
                        <a:cs typeface="CMU Sans Serif" panose="02000603000000000000" pitchFamily="2" charset="0"/>
                      </a:rPr>
                      <m:t>,</m:t>
                    </m:r>
                  </m:oMath>
                </a14:m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3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</m:ctrlPr>
                      </m:sSubPr>
                      <m:e>
                        <m:r>
                          <a:rPr lang="fr-FR" sz="3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𝑓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8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MU Sans Serif" panose="02000603000000000000" pitchFamily="2" charset="0"/>
                        <a:cs typeface="CMU Sans Serif" panose="02000603000000000000" pitchFamily="2" charset="0"/>
                      </a:rPr>
                      <m:t>,</m:t>
                    </m:r>
                  </m:oMath>
                </a14:m>
                <a:r>
                  <a:rPr lang="fr-FR" sz="3200" dirty="0">
                    <a:solidFill>
                      <a:srgbClr val="FFFFFF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are to come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endParaRPr kumimoji="0" lang="fr-FR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endParaRPr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2A00AD63-C4DD-6D85-EAD9-8A3018A77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1140" y="2749911"/>
                <a:ext cx="7744377" cy="6494085"/>
              </a:xfrm>
              <a:prstGeom prst="rect">
                <a:avLst/>
              </a:prstGeom>
              <a:blipFill>
                <a:blip r:embed="rId3"/>
                <a:stretch>
                  <a:fillRect l="-1811" t="-1315" r="-34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 6">
            <a:extLst>
              <a:ext uri="{FF2B5EF4-FFF2-40B4-BE49-F238E27FC236}">
                <a16:creationId xmlns:a16="http://schemas.microsoft.com/office/drawing/2014/main" id="{DD9805CA-48FA-E29F-B3E0-D5FB2ABAE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27" y="2620738"/>
            <a:ext cx="8230973" cy="63783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EFCF9D-C318-179D-E822-C8CF791A84EF}"/>
                  </a:ext>
                </a:extLst>
              </p:cNvPr>
              <p:cNvSpPr txBox="1"/>
              <p:nvPr/>
            </p:nvSpPr>
            <p:spPr>
              <a:xfrm>
                <a:off x="5755412" y="5248019"/>
                <a:ext cx="70208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ans Serif" panose="02000603000000000000" pitchFamily="2" charset="0"/>
                              <a:cs typeface="CMU Sans Serif" panose="02000603000000000000" pitchFamily="2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fr-FR" sz="22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ans Serif" panose="02000603000000000000" pitchFamily="2" charset="0"/>
                              <a:cs typeface="CMU Sans Serif" panose="02000603000000000000" pitchFamily="2" charset="0"/>
                              <a:sym typeface="Arial"/>
                            </a:rPr>
                            <m:t>𝑓</m:t>
                          </m:r>
                        </m:e>
                        <m:sub>
                          <m:r>
                            <a:rPr kumimoji="0" lang="en-GB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ans Serif" panose="02000603000000000000" pitchFamily="2" charset="0"/>
                              <a:cs typeface="CMU Sans Serif" panose="02000603000000000000" pitchFamily="2" charset="0"/>
                              <a:sym typeface="Arial"/>
                            </a:rPr>
                            <m:t>6</m:t>
                          </m:r>
                        </m:sub>
                      </m:sSub>
                      <m:r>
                        <a:rPr kumimoji="0" lang="en-GB" sz="2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MU Sans Serif" panose="02000603000000000000" pitchFamily="2" charset="0"/>
                          <a:cs typeface="CMU Sans Serif" panose="02000603000000000000" pitchFamily="2" charset="0"/>
                          <a:sym typeface="Arial"/>
                        </a:rPr>
                        <m:t>(</m:t>
                      </m:r>
                      <m:r>
                        <a:rPr kumimoji="0" lang="en-GB" sz="2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MU Sans Serif" panose="02000603000000000000" pitchFamily="2" charset="0"/>
                          <a:cs typeface="CMU Sans Serif" panose="02000603000000000000" pitchFamily="2" charset="0"/>
                          <a:sym typeface="Arial"/>
                        </a:rPr>
                        <m:t>𝑥</m:t>
                      </m:r>
                      <m:r>
                        <a:rPr kumimoji="0" lang="en-GB" sz="2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MU Sans Serif" panose="02000603000000000000" pitchFamily="2" charset="0"/>
                          <a:cs typeface="CMU Sans Serif" panose="02000603000000000000" pitchFamily="2" charset="0"/>
                          <a:sym typeface="Arial"/>
                        </a:rPr>
                        <m:t>)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EFCF9D-C318-179D-E822-C8CF791A8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412" y="5248019"/>
                <a:ext cx="702084" cy="430887"/>
              </a:xfrm>
              <a:prstGeom prst="rect">
                <a:avLst/>
              </a:prstGeom>
              <a:blipFill>
                <a:blip r:embed="rId5"/>
                <a:stretch>
                  <a:fillRect l="-5217" r="-21739" b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3DB272-2979-EC1C-93D6-659398552ADC}"/>
                  </a:ext>
                </a:extLst>
              </p:cNvPr>
              <p:cNvSpPr txBox="1"/>
              <p:nvPr/>
            </p:nvSpPr>
            <p:spPr>
              <a:xfrm>
                <a:off x="3753597" y="5248019"/>
                <a:ext cx="70208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ans Serif" panose="02000603000000000000" pitchFamily="2" charset="0"/>
                              <a:cs typeface="CMU Sans Serif" panose="02000603000000000000" pitchFamily="2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fr-FR" sz="22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ans Serif" panose="02000603000000000000" pitchFamily="2" charset="0"/>
                              <a:cs typeface="CMU Sans Serif" panose="02000603000000000000" pitchFamily="2" charset="0"/>
                              <a:sym typeface="Arial"/>
                            </a:rPr>
                            <m:t>𝑓</m:t>
                          </m:r>
                        </m:e>
                        <m:sub>
                          <m:r>
                            <a:rPr kumimoji="0" lang="en-GB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ans Serif" panose="02000603000000000000" pitchFamily="2" charset="0"/>
                              <a:cs typeface="CMU Sans Serif" panose="02000603000000000000" pitchFamily="2" charset="0"/>
                              <a:sym typeface="Arial"/>
                            </a:rPr>
                            <m:t>7</m:t>
                          </m:r>
                        </m:sub>
                      </m:sSub>
                      <m:r>
                        <a:rPr kumimoji="0" lang="en-GB" sz="2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MU Sans Serif" panose="02000603000000000000" pitchFamily="2" charset="0"/>
                          <a:cs typeface="CMU Sans Serif" panose="02000603000000000000" pitchFamily="2" charset="0"/>
                          <a:sym typeface="Arial"/>
                        </a:rPr>
                        <m:t>(</m:t>
                      </m:r>
                      <m:r>
                        <a:rPr kumimoji="0" lang="en-GB" sz="2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MU Sans Serif" panose="02000603000000000000" pitchFamily="2" charset="0"/>
                          <a:cs typeface="CMU Sans Serif" panose="02000603000000000000" pitchFamily="2" charset="0"/>
                          <a:sym typeface="Arial"/>
                        </a:rPr>
                        <m:t>𝑥</m:t>
                      </m:r>
                      <m:r>
                        <a:rPr kumimoji="0" lang="en-GB" sz="2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MU Sans Serif" panose="02000603000000000000" pitchFamily="2" charset="0"/>
                          <a:cs typeface="CMU Sans Serif" panose="02000603000000000000" pitchFamily="2" charset="0"/>
                          <a:sym typeface="Arial"/>
                        </a:rPr>
                        <m:t>)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3DB272-2979-EC1C-93D6-659398552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597" y="5248019"/>
                <a:ext cx="702084" cy="430887"/>
              </a:xfrm>
              <a:prstGeom prst="rect">
                <a:avLst/>
              </a:prstGeom>
              <a:blipFill>
                <a:blip r:embed="rId6"/>
                <a:stretch>
                  <a:fillRect l="-6087" r="-20870" b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21A9DC02-8287-635A-00ED-CA4D0C04DC94}"/>
              </a:ext>
            </a:extLst>
          </p:cNvPr>
          <p:cNvSpPr/>
          <p:nvPr/>
        </p:nvSpPr>
        <p:spPr>
          <a:xfrm>
            <a:off x="8287657" y="7765143"/>
            <a:ext cx="696686" cy="420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036417-F844-6F15-8A29-609D3255F104}"/>
                  </a:ext>
                </a:extLst>
              </p:cNvPr>
              <p:cNvSpPr txBox="1"/>
              <p:nvPr/>
            </p:nvSpPr>
            <p:spPr>
              <a:xfrm>
                <a:off x="8249787" y="7755170"/>
                <a:ext cx="70208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ans Serif" panose="02000603000000000000" pitchFamily="2" charset="0"/>
                              <a:cs typeface="CMU Sans Serif" panose="02000603000000000000" pitchFamily="2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fr-FR" sz="22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ans Serif" panose="02000603000000000000" pitchFamily="2" charset="0"/>
                              <a:cs typeface="CMU Sans Serif" panose="02000603000000000000" pitchFamily="2" charset="0"/>
                              <a:sym typeface="Arial"/>
                            </a:rPr>
                            <m:t>𝑓</m:t>
                          </m:r>
                        </m:e>
                        <m:sub>
                          <m:r>
                            <a:rPr kumimoji="0" lang="en-GB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ans Serif" panose="02000603000000000000" pitchFamily="2" charset="0"/>
                              <a:cs typeface="CMU Sans Serif" panose="02000603000000000000" pitchFamily="2" charset="0"/>
                              <a:sym typeface="Arial"/>
                            </a:rPr>
                            <m:t>8</m:t>
                          </m:r>
                        </m:sub>
                      </m:sSub>
                      <m:r>
                        <a:rPr kumimoji="0" lang="en-GB" sz="2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MU Sans Serif" panose="02000603000000000000" pitchFamily="2" charset="0"/>
                          <a:cs typeface="CMU Sans Serif" panose="02000603000000000000" pitchFamily="2" charset="0"/>
                          <a:sym typeface="Arial"/>
                        </a:rPr>
                        <m:t>(</m:t>
                      </m:r>
                      <m:r>
                        <a:rPr kumimoji="0" lang="en-GB" sz="2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MU Sans Serif" panose="02000603000000000000" pitchFamily="2" charset="0"/>
                          <a:cs typeface="CMU Sans Serif" panose="02000603000000000000" pitchFamily="2" charset="0"/>
                          <a:sym typeface="Arial"/>
                        </a:rPr>
                        <m:t>𝑥</m:t>
                      </m:r>
                      <m:r>
                        <a:rPr kumimoji="0" lang="en-GB" sz="2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MU Sans Serif" panose="02000603000000000000" pitchFamily="2" charset="0"/>
                          <a:cs typeface="CMU Sans Serif" panose="02000603000000000000" pitchFamily="2" charset="0"/>
                          <a:sym typeface="Arial"/>
                        </a:rPr>
                        <m:t>)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036417-F844-6F15-8A29-609D3255F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787" y="7755170"/>
                <a:ext cx="702084" cy="430887"/>
              </a:xfrm>
              <a:prstGeom prst="rect">
                <a:avLst/>
              </a:prstGeom>
              <a:blipFill>
                <a:blip r:embed="rId7"/>
                <a:stretch>
                  <a:fillRect l="-5217" r="-21739" b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5273681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20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17131197" y="9572211"/>
            <a:ext cx="6805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000" dirty="0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9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mpt Light"/>
              <a:ea typeface="Prompt Light"/>
              <a:cs typeface="Prompt Light"/>
              <a:sym typeface="Prompt Light"/>
            </a:endParaRPr>
          </a:p>
        </p:txBody>
      </p:sp>
      <p:sp>
        <p:nvSpPr>
          <p:cNvPr id="2" name="Google Shape;96;p2">
            <a:extLst>
              <a:ext uri="{FF2B5EF4-FFF2-40B4-BE49-F238E27FC236}">
                <a16:creationId xmlns:a16="http://schemas.microsoft.com/office/drawing/2014/main" id="{321F7C6F-EBC7-E72B-7905-73A374A15A4C}"/>
              </a:ext>
            </a:extLst>
          </p:cNvPr>
          <p:cNvSpPr txBox="1"/>
          <p:nvPr/>
        </p:nvSpPr>
        <p:spPr>
          <a:xfrm>
            <a:off x="998220" y="838047"/>
            <a:ext cx="16102497" cy="1300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81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Case Study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2EDEE974-4A4D-5637-C086-8F88D675B43C}"/>
              </a:ext>
            </a:extLst>
          </p:cNvPr>
          <p:cNvCxnSpPr/>
          <p:nvPr/>
        </p:nvCxnSpPr>
        <p:spPr>
          <a:xfrm>
            <a:off x="858983" y="2008909"/>
            <a:ext cx="1609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2A00AD63-C4DD-6D85-EAD9-8A3018A7714A}"/>
              </a:ext>
            </a:extLst>
          </p:cNvPr>
          <p:cNvSpPr txBox="1"/>
          <p:nvPr/>
        </p:nvSpPr>
        <p:spPr>
          <a:xfrm>
            <a:off x="998220" y="2426666"/>
            <a:ext cx="158038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E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Arial"/>
              </a:rPr>
              <a:t>Lunar cargo lander: </a:t>
            </a:r>
            <a:r>
              <a:rPr kumimoji="0" lang="en-IE" sz="3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Arial"/>
              </a:rPr>
              <a:t>Land and lift two tons of cargo to and from the lunar surface in a cost-effective manner.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105737C-5FBD-2C9D-7CDC-7C4963451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86" y="3792467"/>
            <a:ext cx="10125216" cy="3004290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434454F8-D626-B647-5089-70E49ACAC433}"/>
              </a:ext>
            </a:extLst>
          </p:cNvPr>
          <p:cNvSpPr/>
          <p:nvPr/>
        </p:nvSpPr>
        <p:spPr>
          <a:xfrm>
            <a:off x="13158978" y="4989483"/>
            <a:ext cx="4048762" cy="151808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constructor</a:t>
            </a:r>
            <a:endParaRPr lang="fr-FR" sz="4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0" name="Accolade fermante 9">
            <a:extLst>
              <a:ext uri="{FF2B5EF4-FFF2-40B4-BE49-F238E27FC236}">
                <a16:creationId xmlns:a16="http://schemas.microsoft.com/office/drawing/2014/main" id="{D78A799D-CDD8-2CEB-5266-BB94B3DCDEC0}"/>
              </a:ext>
            </a:extLst>
          </p:cNvPr>
          <p:cNvSpPr/>
          <p:nvPr/>
        </p:nvSpPr>
        <p:spPr>
          <a:xfrm>
            <a:off x="11348644" y="4700588"/>
            <a:ext cx="738581" cy="2114611"/>
          </a:xfrm>
          <a:prstGeom prst="rightBrac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C3AE5341-E7B9-BECD-53BE-8422A5FA9B28}"/>
              </a:ext>
            </a:extLst>
          </p:cNvPr>
          <p:cNvCxnSpPr>
            <a:cxnSpLocks/>
            <a:stCxn id="10" idx="1"/>
            <a:endCxn id="9" idx="2"/>
          </p:cNvCxnSpPr>
          <p:nvPr/>
        </p:nvCxnSpPr>
        <p:spPr>
          <a:xfrm flipV="1">
            <a:off x="12087225" y="5748525"/>
            <a:ext cx="1071753" cy="936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1F4F56CD-0B8E-FAF7-F230-2C8D7B01420C}"/>
              </a:ext>
            </a:extLst>
          </p:cNvPr>
          <p:cNvCxnSpPr>
            <a:cxnSpLocks/>
            <a:stCxn id="9" idx="4"/>
            <a:endCxn id="13" idx="0"/>
          </p:cNvCxnSpPr>
          <p:nvPr/>
        </p:nvCxnSpPr>
        <p:spPr>
          <a:xfrm>
            <a:off x="15183359" y="6507567"/>
            <a:ext cx="0" cy="174004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07318AE-8A06-28AB-0B6D-D69F487E0976}"/>
              </a:ext>
            </a:extLst>
          </p:cNvPr>
          <p:cNvSpPr/>
          <p:nvPr/>
        </p:nvSpPr>
        <p:spPr>
          <a:xfrm>
            <a:off x="13266001" y="8247611"/>
            <a:ext cx="3834716" cy="115981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Solution </a:t>
            </a:r>
            <a:r>
              <a:rPr lang="fr-FR" sz="36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space</a:t>
            </a:r>
            <a:endParaRPr lang="fr-FR" sz="36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5C5FA801-746C-7DD6-0371-2DD121219CE8}"/>
              </a:ext>
            </a:extLst>
          </p:cNvPr>
          <p:cNvSpPr/>
          <p:nvPr/>
        </p:nvSpPr>
        <p:spPr>
          <a:xfrm>
            <a:off x="8214746" y="8054127"/>
            <a:ext cx="4048762" cy="151808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Mass estimation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909149CD-AF5D-5C87-0A4A-7BF771786AF6}"/>
              </a:ext>
            </a:extLst>
          </p:cNvPr>
          <p:cNvSpPr/>
          <p:nvPr/>
        </p:nvSpPr>
        <p:spPr>
          <a:xfrm>
            <a:off x="3094231" y="8054127"/>
            <a:ext cx="4048762" cy="151808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Cost estimation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8233BC27-0051-E97F-89CF-B06A5A5DDB65}"/>
              </a:ext>
            </a:extLst>
          </p:cNvPr>
          <p:cNvCxnSpPr>
            <a:cxnSpLocks/>
            <a:stCxn id="14" idx="2"/>
            <a:endCxn id="19" idx="6"/>
          </p:cNvCxnSpPr>
          <p:nvPr/>
        </p:nvCxnSpPr>
        <p:spPr>
          <a:xfrm flipH="1">
            <a:off x="7142993" y="8813169"/>
            <a:ext cx="1071753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4DCBD2D7-FFBB-8945-F991-410AF4C1DAAC}"/>
              </a:ext>
            </a:extLst>
          </p:cNvPr>
          <p:cNvCxnSpPr>
            <a:cxnSpLocks/>
            <a:stCxn id="13" idx="1"/>
            <a:endCxn id="14" idx="6"/>
          </p:cNvCxnSpPr>
          <p:nvPr/>
        </p:nvCxnSpPr>
        <p:spPr>
          <a:xfrm flipH="1" flipV="1">
            <a:off x="12263508" y="8813169"/>
            <a:ext cx="1002493" cy="1434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05068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20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17131197" y="9572211"/>
            <a:ext cx="6805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000" dirty="0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10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mpt Light"/>
              <a:ea typeface="Prompt Light"/>
              <a:cs typeface="Prompt Light"/>
              <a:sym typeface="Prompt Light"/>
            </a:endParaRPr>
          </a:p>
        </p:txBody>
      </p:sp>
      <p:sp>
        <p:nvSpPr>
          <p:cNvPr id="2" name="Google Shape;96;p2">
            <a:extLst>
              <a:ext uri="{FF2B5EF4-FFF2-40B4-BE49-F238E27FC236}">
                <a16:creationId xmlns:a16="http://schemas.microsoft.com/office/drawing/2014/main" id="{321F7C6F-EBC7-E72B-7905-73A374A15A4C}"/>
              </a:ext>
            </a:extLst>
          </p:cNvPr>
          <p:cNvSpPr txBox="1"/>
          <p:nvPr/>
        </p:nvSpPr>
        <p:spPr>
          <a:xfrm>
            <a:off x="998220" y="838047"/>
            <a:ext cx="16102497" cy="1300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81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Results - mass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2EDEE974-4A4D-5637-C086-8F88D675B43C}"/>
              </a:ext>
            </a:extLst>
          </p:cNvPr>
          <p:cNvCxnSpPr/>
          <p:nvPr/>
        </p:nvCxnSpPr>
        <p:spPr>
          <a:xfrm>
            <a:off x="858983" y="2008909"/>
            <a:ext cx="1609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8E31AF5-1724-3A3F-1600-0D80462E9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" y="2560564"/>
            <a:ext cx="8374845" cy="6768000"/>
          </a:xfrm>
          <a:prstGeom prst="rect">
            <a:avLst/>
          </a:prstGeom>
        </p:spPr>
      </p:pic>
      <p:sp>
        <p:nvSpPr>
          <p:cNvPr id="4" name="ZoneTexte 5">
            <a:extLst>
              <a:ext uri="{FF2B5EF4-FFF2-40B4-BE49-F238E27FC236}">
                <a16:creationId xmlns:a16="http://schemas.microsoft.com/office/drawing/2014/main" id="{9003D18D-F27E-0009-46E1-1FE189D2B85F}"/>
              </a:ext>
            </a:extLst>
          </p:cNvPr>
          <p:cNvSpPr txBox="1"/>
          <p:nvPr/>
        </p:nvSpPr>
        <p:spPr>
          <a:xfrm>
            <a:off x="9821024" y="2816939"/>
            <a:ext cx="846697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12,000 MAs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lang="en-GB" sz="3200" dirty="0">
              <a:solidFill>
                <a:srgbClr val="FFFFFF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Two families: singles and double s/c Mas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lang="en-GB" sz="3200" dirty="0">
              <a:solidFill>
                <a:srgbClr val="FFFFFF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GB" sz="3200" dirty="0" err="1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Duplicaction</a:t>
            </a:r>
            <a:r>
              <a:rPr lang="en-GB" sz="3200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due to HQ restriction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lang="en-GB" sz="3200" dirty="0">
              <a:solidFill>
                <a:srgbClr val="FFFFFF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lang="fr-FR" sz="3200" dirty="0">
              <a:solidFill>
                <a:srgbClr val="FFFFFF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fr-FR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4272500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20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17131197" y="9572211"/>
            <a:ext cx="6805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000" dirty="0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11</a:t>
            </a:r>
          </a:p>
        </p:txBody>
      </p:sp>
      <p:sp>
        <p:nvSpPr>
          <p:cNvPr id="2" name="Google Shape;96;p2">
            <a:extLst>
              <a:ext uri="{FF2B5EF4-FFF2-40B4-BE49-F238E27FC236}">
                <a16:creationId xmlns:a16="http://schemas.microsoft.com/office/drawing/2014/main" id="{321F7C6F-EBC7-E72B-7905-73A374A15A4C}"/>
              </a:ext>
            </a:extLst>
          </p:cNvPr>
          <p:cNvSpPr txBox="1"/>
          <p:nvPr/>
        </p:nvSpPr>
        <p:spPr>
          <a:xfrm>
            <a:off x="998220" y="838047"/>
            <a:ext cx="16102497" cy="1300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81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Results - Cost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2EDEE974-4A4D-5637-C086-8F88D675B43C}"/>
              </a:ext>
            </a:extLst>
          </p:cNvPr>
          <p:cNvCxnSpPr/>
          <p:nvPr/>
        </p:nvCxnSpPr>
        <p:spPr>
          <a:xfrm>
            <a:off x="858983" y="2008909"/>
            <a:ext cx="1609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C68AC1C6-978B-1520-8CCF-0E75654E7A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6" r="4854"/>
          <a:stretch/>
        </p:blipFill>
        <p:spPr>
          <a:xfrm>
            <a:off x="998220" y="2537567"/>
            <a:ext cx="8619186" cy="6768000"/>
          </a:xfrm>
          <a:prstGeom prst="rect">
            <a:avLst/>
          </a:prstGeom>
        </p:spPr>
      </p:pic>
      <p:sp>
        <p:nvSpPr>
          <p:cNvPr id="18" name="ZoneTexte 5">
            <a:extLst>
              <a:ext uri="{FF2B5EF4-FFF2-40B4-BE49-F238E27FC236}">
                <a16:creationId xmlns:a16="http://schemas.microsoft.com/office/drawing/2014/main" id="{B6FB5DC5-22C0-9A4C-92FA-21D1EEDC09D8}"/>
              </a:ext>
            </a:extLst>
          </p:cNvPr>
          <p:cNvSpPr txBox="1"/>
          <p:nvPr/>
        </p:nvSpPr>
        <p:spPr>
          <a:xfrm>
            <a:off x="9821024" y="2681544"/>
            <a:ext cx="846697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GB" sz="3200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Patterns due to cost domination by some decisions (e.g. The DRS choice).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lang="en-GB" sz="3200" dirty="0">
              <a:solidFill>
                <a:srgbClr val="FFFFFF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457200" indent="-457200">
              <a:buClr>
                <a:srgbClr val="FFFFFF"/>
              </a:buClr>
              <a:buFont typeface="Wingdings" panose="05000000000000000000" pitchFamily="2" charset="2"/>
              <a:buChar char="Ø"/>
              <a:defRPr/>
            </a:pPr>
            <a:r>
              <a:rPr lang="en-GB" sz="3200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Lowest Cost MA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lang="en-GB" sz="3200" dirty="0">
              <a:solidFill>
                <a:srgbClr val="FFFFFF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lang="fr-FR" sz="3200" dirty="0">
              <a:solidFill>
                <a:srgbClr val="FFFFFF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fr-FR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  <a:sym typeface="Arial"/>
            </a:endParaRPr>
          </a:p>
        </p:txBody>
      </p:sp>
      <p:sp>
        <p:nvSpPr>
          <p:cNvPr id="20" name="ZoneTexte 5">
            <a:extLst>
              <a:ext uri="{FF2B5EF4-FFF2-40B4-BE49-F238E27FC236}">
                <a16:creationId xmlns:a16="http://schemas.microsoft.com/office/drawing/2014/main" id="{B0B06E99-C24F-7400-CBDD-5DFDDC55B9D0}"/>
              </a:ext>
            </a:extLst>
          </p:cNvPr>
          <p:cNvSpPr txBox="1"/>
          <p:nvPr/>
        </p:nvSpPr>
        <p:spPr>
          <a:xfrm>
            <a:off x="10292893" y="5360147"/>
            <a:ext cx="846697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GB" sz="3200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'Solution number    ‘: #3425,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GB" sz="3200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'Lander Fuel        ': 'LOX/LH2',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GB" sz="3200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'Lander dry mass   ': 1533.45 kg,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GB" sz="3200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'</a:t>
            </a:r>
            <a:r>
              <a:rPr lang="en-GB" sz="3200" dirty="0" err="1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imLEO</a:t>
            </a:r>
            <a:r>
              <a:rPr lang="en-GB" sz="3200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               ': 5558 kg,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GB" sz="3200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'</a:t>
            </a:r>
            <a:r>
              <a:rPr lang="en-GB" sz="3200" dirty="0" err="1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md_mission</a:t>
            </a:r>
            <a:r>
              <a:rPr lang="en-GB" sz="3200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        ': 1533 kg,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GB" sz="3200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'launcher              ': 'Falcon 9',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GB" sz="3200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'</a:t>
            </a:r>
            <a:r>
              <a:rPr lang="en-GB" sz="3200" dirty="0" err="1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Acq_cost</a:t>
            </a:r>
            <a:r>
              <a:rPr lang="en-GB" sz="3200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           ‘: €432M</a:t>
            </a:r>
            <a:endParaRPr kumimoji="0" lang="fr-FR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3990597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20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17131197" y="9572211"/>
            <a:ext cx="6805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000" dirty="0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13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mpt Light"/>
              <a:ea typeface="Prompt Light"/>
              <a:cs typeface="Prompt Light"/>
              <a:sym typeface="Prompt Light"/>
            </a:endParaRPr>
          </a:p>
        </p:txBody>
      </p:sp>
      <p:sp>
        <p:nvSpPr>
          <p:cNvPr id="2" name="Google Shape;96;p2">
            <a:extLst>
              <a:ext uri="{FF2B5EF4-FFF2-40B4-BE49-F238E27FC236}">
                <a16:creationId xmlns:a16="http://schemas.microsoft.com/office/drawing/2014/main" id="{321F7C6F-EBC7-E72B-7905-73A374A15A4C}"/>
              </a:ext>
            </a:extLst>
          </p:cNvPr>
          <p:cNvSpPr txBox="1"/>
          <p:nvPr/>
        </p:nvSpPr>
        <p:spPr>
          <a:xfrm>
            <a:off x="998220" y="838047"/>
            <a:ext cx="16102497" cy="1300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81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6600" b="1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Conclusions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  <a:sym typeface="Arial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2EDEE974-4A4D-5637-C086-8F88D675B43C}"/>
              </a:ext>
            </a:extLst>
          </p:cNvPr>
          <p:cNvCxnSpPr/>
          <p:nvPr/>
        </p:nvCxnSpPr>
        <p:spPr>
          <a:xfrm>
            <a:off x="858983" y="2008909"/>
            <a:ext cx="1609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122;p5">
            <a:extLst>
              <a:ext uri="{FF2B5EF4-FFF2-40B4-BE49-F238E27FC236}">
                <a16:creationId xmlns:a16="http://schemas.microsoft.com/office/drawing/2014/main" id="{4F3712F7-A1CB-F24A-D7B9-B57526D7B5F3}"/>
              </a:ext>
            </a:extLst>
          </p:cNvPr>
          <p:cNvSpPr/>
          <p:nvPr/>
        </p:nvSpPr>
        <p:spPr>
          <a:xfrm>
            <a:off x="774291" y="3395975"/>
            <a:ext cx="5406347" cy="4643746"/>
          </a:xfrm>
          <a:custGeom>
            <a:avLst/>
            <a:gdLst/>
            <a:ahLst/>
            <a:cxnLst/>
            <a:rect l="l" t="t" r="r" b="b"/>
            <a:pathLst>
              <a:path w="3397874" h="3778145" extrusionOk="0">
                <a:moveTo>
                  <a:pt x="3273414" y="3778145"/>
                </a:moveTo>
                <a:lnTo>
                  <a:pt x="124460" y="3778145"/>
                </a:lnTo>
                <a:cubicBezTo>
                  <a:pt x="55880" y="3778145"/>
                  <a:pt x="0" y="3722265"/>
                  <a:pt x="0" y="3653685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73415" y="0"/>
                </a:lnTo>
                <a:cubicBezTo>
                  <a:pt x="3341994" y="0"/>
                  <a:pt x="3397874" y="55880"/>
                  <a:pt x="3397874" y="124460"/>
                </a:cubicBezTo>
                <a:lnTo>
                  <a:pt x="3397874" y="3653686"/>
                </a:lnTo>
                <a:cubicBezTo>
                  <a:pt x="3397874" y="3722265"/>
                  <a:pt x="3341994" y="3778145"/>
                  <a:pt x="3273415" y="3778145"/>
                </a:cubicBezTo>
                <a:close/>
              </a:path>
            </a:pathLst>
          </a:cu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23;p5">
            <a:extLst>
              <a:ext uri="{FF2B5EF4-FFF2-40B4-BE49-F238E27FC236}">
                <a16:creationId xmlns:a16="http://schemas.microsoft.com/office/drawing/2014/main" id="{298679E8-5B94-B41C-E09F-7536183EC4CB}"/>
              </a:ext>
            </a:extLst>
          </p:cNvPr>
          <p:cNvSpPr txBox="1"/>
          <p:nvPr/>
        </p:nvSpPr>
        <p:spPr>
          <a:xfrm>
            <a:off x="1099346" y="4458828"/>
            <a:ext cx="4920657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8" indent="-342900">
              <a:lnSpc>
                <a:spcPct val="150000"/>
              </a:lnSpc>
              <a:buClr>
                <a:schemeClr val="lt1"/>
              </a:buClr>
              <a:buSzPts val="22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Houbolt Questions are an interesting method </a:t>
            </a:r>
          </a:p>
          <a:p>
            <a:pPr marL="342900" lvl="8" indent="-342900">
              <a:lnSpc>
                <a:spcPct val="150000"/>
              </a:lnSpc>
              <a:buClr>
                <a:schemeClr val="lt1"/>
              </a:buClr>
              <a:buSzPts val="2200"/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lt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  <a:sym typeface="Prompt"/>
            </a:endParaRPr>
          </a:p>
          <a:p>
            <a:pPr marL="342900" lvl="8" indent="-342900">
              <a:lnSpc>
                <a:spcPct val="150000"/>
              </a:lnSpc>
              <a:buClr>
                <a:schemeClr val="lt1"/>
              </a:buClr>
              <a:buSzPts val="22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Repetition shows need for expansion</a:t>
            </a:r>
          </a:p>
          <a:p>
            <a:pPr marL="342900" lvl="8" indent="-342900">
              <a:lnSpc>
                <a:spcPct val="150000"/>
              </a:lnSpc>
              <a:buClr>
                <a:schemeClr val="lt1"/>
              </a:buClr>
              <a:buSzPts val="2200"/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lt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  <a:sym typeface="Prompt"/>
            </a:endParaRPr>
          </a:p>
        </p:txBody>
      </p:sp>
      <p:grpSp>
        <p:nvGrpSpPr>
          <p:cNvPr id="6" name="Google Shape;124;p5">
            <a:extLst>
              <a:ext uri="{FF2B5EF4-FFF2-40B4-BE49-F238E27FC236}">
                <a16:creationId xmlns:a16="http://schemas.microsoft.com/office/drawing/2014/main" id="{2DBD63B6-4394-0723-2C0D-B5A8643C4E39}"/>
              </a:ext>
            </a:extLst>
          </p:cNvPr>
          <p:cNvGrpSpPr/>
          <p:nvPr/>
        </p:nvGrpSpPr>
        <p:grpSpPr>
          <a:xfrm>
            <a:off x="774291" y="3395975"/>
            <a:ext cx="5406347" cy="915102"/>
            <a:chOff x="0" y="0"/>
            <a:chExt cx="7208463" cy="2325593"/>
          </a:xfrm>
        </p:grpSpPr>
        <p:sp>
          <p:nvSpPr>
            <p:cNvPr id="7" name="Google Shape;125;p5">
              <a:extLst>
                <a:ext uri="{FF2B5EF4-FFF2-40B4-BE49-F238E27FC236}">
                  <a16:creationId xmlns:a16="http://schemas.microsoft.com/office/drawing/2014/main" id="{732C9223-C659-E3C3-3B31-6DF4D211F434}"/>
                </a:ext>
              </a:extLst>
            </p:cNvPr>
            <p:cNvSpPr/>
            <p:nvPr/>
          </p:nvSpPr>
          <p:spPr>
            <a:xfrm>
              <a:off x="0" y="0"/>
              <a:ext cx="7208463" cy="2325593"/>
            </a:xfrm>
            <a:custGeom>
              <a:avLst/>
              <a:gdLst/>
              <a:ahLst/>
              <a:cxnLst/>
              <a:rect l="l" t="t" r="r" b="b"/>
              <a:pathLst>
                <a:path w="3397874" h="1096222" extrusionOk="0">
                  <a:moveTo>
                    <a:pt x="3273414" y="1096222"/>
                  </a:moveTo>
                  <a:lnTo>
                    <a:pt x="124460" y="1096222"/>
                  </a:lnTo>
                  <a:cubicBezTo>
                    <a:pt x="55880" y="1096222"/>
                    <a:pt x="0" y="1040342"/>
                    <a:pt x="0" y="97176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73415" y="0"/>
                  </a:lnTo>
                  <a:cubicBezTo>
                    <a:pt x="3341994" y="0"/>
                    <a:pt x="3397874" y="55880"/>
                    <a:pt x="3397874" y="124460"/>
                  </a:cubicBezTo>
                  <a:lnTo>
                    <a:pt x="3397874" y="971762"/>
                  </a:lnTo>
                  <a:cubicBezTo>
                    <a:pt x="3397874" y="1040342"/>
                    <a:pt x="3341994" y="1096222"/>
                    <a:pt x="3273415" y="1096222"/>
                  </a:cubicBezTo>
                  <a:close/>
                </a:path>
              </a:pathLst>
            </a:custGeom>
            <a:solidFill>
              <a:srgbClr val="911B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8" name="Google Shape;126;p5">
              <a:extLst>
                <a:ext uri="{FF2B5EF4-FFF2-40B4-BE49-F238E27FC236}">
                  <a16:creationId xmlns:a16="http://schemas.microsoft.com/office/drawing/2014/main" id="{E133058E-0A1D-5E2A-3ED8-F8CA331416FF}"/>
                </a:ext>
              </a:extLst>
            </p:cNvPr>
            <p:cNvSpPr txBox="1"/>
            <p:nvPr/>
          </p:nvSpPr>
          <p:spPr>
            <a:xfrm>
              <a:off x="307961" y="328274"/>
              <a:ext cx="6592539" cy="1657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 i="0" u="none" strike="noStrike" cap="none" dirty="0">
                  <a:solidFill>
                    <a:srgbClr val="FFFFFF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Prompt"/>
                </a:rPr>
                <a:t>Design Space Modelling</a:t>
              </a:r>
            </a:p>
          </p:txBody>
        </p:sp>
      </p:grpSp>
      <p:sp>
        <p:nvSpPr>
          <p:cNvPr id="9" name="Google Shape;127;p5">
            <a:extLst>
              <a:ext uri="{FF2B5EF4-FFF2-40B4-BE49-F238E27FC236}">
                <a16:creationId xmlns:a16="http://schemas.microsoft.com/office/drawing/2014/main" id="{F4FC37B1-F7AC-5A49-5BA5-E381A6468C90}"/>
              </a:ext>
            </a:extLst>
          </p:cNvPr>
          <p:cNvSpPr/>
          <p:nvPr/>
        </p:nvSpPr>
        <p:spPr>
          <a:xfrm>
            <a:off x="6398484" y="3407525"/>
            <a:ext cx="5406347" cy="4643746"/>
          </a:xfrm>
          <a:custGeom>
            <a:avLst/>
            <a:gdLst/>
            <a:ahLst/>
            <a:cxnLst/>
            <a:rect l="l" t="t" r="r" b="b"/>
            <a:pathLst>
              <a:path w="3397874" h="3778145" extrusionOk="0">
                <a:moveTo>
                  <a:pt x="3273414" y="3778145"/>
                </a:moveTo>
                <a:lnTo>
                  <a:pt x="124460" y="3778145"/>
                </a:lnTo>
                <a:cubicBezTo>
                  <a:pt x="55880" y="3778145"/>
                  <a:pt x="0" y="3722265"/>
                  <a:pt x="0" y="3653685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73415" y="0"/>
                </a:lnTo>
                <a:cubicBezTo>
                  <a:pt x="3341994" y="0"/>
                  <a:pt x="3397874" y="55880"/>
                  <a:pt x="3397874" y="124460"/>
                </a:cubicBezTo>
                <a:lnTo>
                  <a:pt x="3397874" y="3653686"/>
                </a:lnTo>
                <a:cubicBezTo>
                  <a:pt x="3397874" y="3722265"/>
                  <a:pt x="3341994" y="3778145"/>
                  <a:pt x="3273415" y="3778145"/>
                </a:cubicBezTo>
                <a:close/>
              </a:path>
            </a:pathLst>
          </a:cu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28;p5">
            <a:extLst>
              <a:ext uri="{FF2B5EF4-FFF2-40B4-BE49-F238E27FC236}">
                <a16:creationId xmlns:a16="http://schemas.microsoft.com/office/drawing/2014/main" id="{15CAA563-532B-7BDE-858D-93AEA90CECCE}"/>
              </a:ext>
            </a:extLst>
          </p:cNvPr>
          <p:cNvSpPr txBox="1"/>
          <p:nvPr/>
        </p:nvSpPr>
        <p:spPr>
          <a:xfrm>
            <a:off x="6723539" y="4470378"/>
            <a:ext cx="4920657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lt1"/>
              </a:buClr>
              <a:buSzPts val="2200"/>
              <a:buFont typeface="Wingdings" panose="05000000000000000000" pitchFamily="2" charset="2"/>
              <a:buChar char="Ø"/>
            </a:pPr>
            <a:r>
              <a:rPr lang="fr-FR" sz="2800" dirty="0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Link </a:t>
            </a:r>
            <a:r>
              <a:rPr lang="fr-FR" sz="2800" dirty="0" err="1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functions</a:t>
            </a:r>
            <a:r>
              <a:rPr lang="fr-FR" sz="2800" dirty="0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 can </a:t>
            </a:r>
            <a:r>
              <a:rPr lang="fr-FR" sz="2800" dirty="0" err="1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evaluate</a:t>
            </a:r>
            <a:r>
              <a:rPr lang="fr-FR" sz="2800" dirty="0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 </a:t>
            </a:r>
            <a:r>
              <a:rPr lang="fr-FR" sz="2800" dirty="0" err="1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cost</a:t>
            </a:r>
            <a:r>
              <a:rPr lang="fr-FR" sz="2800" dirty="0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 </a:t>
            </a:r>
            <a:r>
              <a:rPr lang="fr-FR" sz="2800" dirty="0" err="1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from</a:t>
            </a:r>
            <a:r>
              <a:rPr lang="fr-FR" sz="2800" dirty="0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 </a:t>
            </a:r>
            <a:r>
              <a:rPr lang="fr-FR" sz="2800" dirty="0" err="1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HQs</a:t>
            </a:r>
            <a:endParaRPr lang="fr-FR" sz="2800" dirty="0">
              <a:solidFill>
                <a:schemeClr val="lt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  <a:sym typeface="Prompt"/>
            </a:endParaRPr>
          </a:p>
          <a:p>
            <a:pPr marL="342900" indent="-342900">
              <a:lnSpc>
                <a:spcPct val="150000"/>
              </a:lnSpc>
              <a:buClr>
                <a:schemeClr val="lt1"/>
              </a:buClr>
              <a:buSzPts val="2200"/>
              <a:buFont typeface="Wingdings" panose="05000000000000000000" pitchFamily="2" charset="2"/>
              <a:buChar char="Ø"/>
            </a:pPr>
            <a:endParaRPr lang="fr-FR" sz="2800" dirty="0">
              <a:solidFill>
                <a:schemeClr val="lt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  <a:sym typeface="Prompt"/>
            </a:endParaRPr>
          </a:p>
          <a:p>
            <a:pPr marL="342900" indent="-342900">
              <a:lnSpc>
                <a:spcPct val="150000"/>
              </a:lnSpc>
              <a:buClr>
                <a:schemeClr val="lt1"/>
              </a:buClr>
              <a:buSzPts val="2200"/>
              <a:buFont typeface="Wingdings" panose="05000000000000000000" pitchFamily="2" charset="2"/>
              <a:buChar char="Ø"/>
            </a:pPr>
            <a:r>
              <a:rPr lang="fr-FR" sz="2800" dirty="0" err="1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Add</a:t>
            </a:r>
            <a:r>
              <a:rPr lang="fr-FR" sz="2800" dirty="0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 </a:t>
            </a:r>
            <a:r>
              <a:rPr lang="fr-FR" sz="2800" dirty="0" err="1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cost</a:t>
            </a:r>
            <a:r>
              <a:rPr lang="fr-FR" sz="2800" dirty="0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 </a:t>
            </a:r>
            <a:r>
              <a:rPr lang="fr-FR" sz="2800" dirty="0" err="1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uncertainty</a:t>
            </a:r>
            <a:endParaRPr lang="fr-FR" sz="2800" dirty="0">
              <a:solidFill>
                <a:schemeClr val="lt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  <a:sym typeface="Prompt"/>
            </a:endParaRPr>
          </a:p>
          <a:p>
            <a:pPr marL="342900" indent="-342900">
              <a:lnSpc>
                <a:spcPct val="150000"/>
              </a:lnSpc>
              <a:buClr>
                <a:schemeClr val="lt1"/>
              </a:buClr>
              <a:buSzPts val="2200"/>
              <a:buFont typeface="Wingdings" panose="05000000000000000000" pitchFamily="2" charset="2"/>
              <a:buChar char="Ø"/>
            </a:pPr>
            <a:r>
              <a:rPr lang="fr-FR" sz="2800" dirty="0" err="1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Compete</a:t>
            </a:r>
            <a:r>
              <a:rPr lang="fr-FR" sz="2800" dirty="0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 </a:t>
            </a:r>
            <a:r>
              <a:rPr lang="fr-FR" sz="2800" dirty="0" err="1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link</a:t>
            </a:r>
            <a:r>
              <a:rPr lang="fr-FR" sz="2800" dirty="0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 </a:t>
            </a:r>
            <a:r>
              <a:rPr lang="fr-FR" sz="2800" dirty="0" err="1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functions</a:t>
            </a:r>
            <a:endParaRPr lang="en-IE" sz="2800" b="0" i="0" u="none" strike="noStrike" cap="none" dirty="0">
              <a:solidFill>
                <a:schemeClr val="lt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  <a:sym typeface="Prompt"/>
            </a:endParaRPr>
          </a:p>
        </p:txBody>
      </p:sp>
      <p:grpSp>
        <p:nvGrpSpPr>
          <p:cNvPr id="11" name="Google Shape;129;p5">
            <a:extLst>
              <a:ext uri="{FF2B5EF4-FFF2-40B4-BE49-F238E27FC236}">
                <a16:creationId xmlns:a16="http://schemas.microsoft.com/office/drawing/2014/main" id="{5E069C8F-9837-4FEA-9226-B31D5D608E57}"/>
              </a:ext>
            </a:extLst>
          </p:cNvPr>
          <p:cNvGrpSpPr/>
          <p:nvPr/>
        </p:nvGrpSpPr>
        <p:grpSpPr>
          <a:xfrm>
            <a:off x="6398484" y="3407525"/>
            <a:ext cx="5406347" cy="915102"/>
            <a:chOff x="0" y="0"/>
            <a:chExt cx="7208463" cy="2325593"/>
          </a:xfrm>
        </p:grpSpPr>
        <p:sp>
          <p:nvSpPr>
            <p:cNvPr id="12" name="Google Shape;130;p5">
              <a:extLst>
                <a:ext uri="{FF2B5EF4-FFF2-40B4-BE49-F238E27FC236}">
                  <a16:creationId xmlns:a16="http://schemas.microsoft.com/office/drawing/2014/main" id="{585AF0B5-2DEC-A366-20B9-560BBA8FB115}"/>
                </a:ext>
              </a:extLst>
            </p:cNvPr>
            <p:cNvSpPr/>
            <p:nvPr/>
          </p:nvSpPr>
          <p:spPr>
            <a:xfrm>
              <a:off x="0" y="0"/>
              <a:ext cx="7208463" cy="2325593"/>
            </a:xfrm>
            <a:custGeom>
              <a:avLst/>
              <a:gdLst/>
              <a:ahLst/>
              <a:cxnLst/>
              <a:rect l="l" t="t" r="r" b="b"/>
              <a:pathLst>
                <a:path w="3397874" h="1096222" extrusionOk="0">
                  <a:moveTo>
                    <a:pt x="3273414" y="1096222"/>
                  </a:moveTo>
                  <a:lnTo>
                    <a:pt x="124460" y="1096222"/>
                  </a:lnTo>
                  <a:cubicBezTo>
                    <a:pt x="55880" y="1096222"/>
                    <a:pt x="0" y="1040342"/>
                    <a:pt x="0" y="97176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73415" y="0"/>
                  </a:lnTo>
                  <a:cubicBezTo>
                    <a:pt x="3341994" y="0"/>
                    <a:pt x="3397874" y="55880"/>
                    <a:pt x="3397874" y="124460"/>
                  </a:cubicBezTo>
                  <a:lnTo>
                    <a:pt x="3397874" y="971762"/>
                  </a:lnTo>
                  <a:cubicBezTo>
                    <a:pt x="3397874" y="1040342"/>
                    <a:pt x="3341994" y="1096222"/>
                    <a:pt x="3273415" y="1096222"/>
                  </a:cubicBezTo>
                  <a:close/>
                </a:path>
              </a:pathLst>
            </a:custGeom>
            <a:solidFill>
              <a:srgbClr val="911B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13" name="Google Shape;131;p5">
              <a:extLst>
                <a:ext uri="{FF2B5EF4-FFF2-40B4-BE49-F238E27FC236}">
                  <a16:creationId xmlns:a16="http://schemas.microsoft.com/office/drawing/2014/main" id="{FA78EAE1-71BC-6690-2EAB-2813FFE384E1}"/>
                </a:ext>
              </a:extLst>
            </p:cNvPr>
            <p:cNvSpPr txBox="1"/>
            <p:nvPr/>
          </p:nvSpPr>
          <p:spPr>
            <a:xfrm>
              <a:off x="699899" y="346134"/>
              <a:ext cx="5840322" cy="1657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 i="0" u="none" strike="noStrike" cap="none" dirty="0">
                  <a:solidFill>
                    <a:srgbClr val="FFFFFF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Prompt"/>
                </a:rPr>
                <a:t>Design Space Evaluation</a:t>
              </a:r>
              <a:endParaRPr sz="2600" b="1" i="0" u="none" strike="noStrike" cap="none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endParaRPr>
            </a:p>
          </p:txBody>
        </p:sp>
      </p:grpSp>
      <p:sp>
        <p:nvSpPr>
          <p:cNvPr id="14" name="Google Shape;132;p5">
            <a:extLst>
              <a:ext uri="{FF2B5EF4-FFF2-40B4-BE49-F238E27FC236}">
                <a16:creationId xmlns:a16="http://schemas.microsoft.com/office/drawing/2014/main" id="{58F10759-52C8-9574-488C-43FEC8D80766}"/>
              </a:ext>
            </a:extLst>
          </p:cNvPr>
          <p:cNvSpPr/>
          <p:nvPr/>
        </p:nvSpPr>
        <p:spPr>
          <a:xfrm>
            <a:off x="12015303" y="3395975"/>
            <a:ext cx="5406347" cy="4643746"/>
          </a:xfrm>
          <a:custGeom>
            <a:avLst/>
            <a:gdLst/>
            <a:ahLst/>
            <a:cxnLst/>
            <a:rect l="l" t="t" r="r" b="b"/>
            <a:pathLst>
              <a:path w="3397874" h="3778145" extrusionOk="0">
                <a:moveTo>
                  <a:pt x="3273414" y="3778145"/>
                </a:moveTo>
                <a:lnTo>
                  <a:pt x="124460" y="3778145"/>
                </a:lnTo>
                <a:cubicBezTo>
                  <a:pt x="55880" y="3778145"/>
                  <a:pt x="0" y="3722265"/>
                  <a:pt x="0" y="3653685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73415" y="0"/>
                </a:lnTo>
                <a:cubicBezTo>
                  <a:pt x="3341994" y="0"/>
                  <a:pt x="3397874" y="55880"/>
                  <a:pt x="3397874" y="124460"/>
                </a:cubicBezTo>
                <a:lnTo>
                  <a:pt x="3397874" y="3653686"/>
                </a:lnTo>
                <a:cubicBezTo>
                  <a:pt x="3397874" y="3722265"/>
                  <a:pt x="3341994" y="3778145"/>
                  <a:pt x="3273415" y="3778145"/>
                </a:cubicBezTo>
                <a:close/>
              </a:path>
            </a:pathLst>
          </a:cu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33;p5">
            <a:extLst>
              <a:ext uri="{FF2B5EF4-FFF2-40B4-BE49-F238E27FC236}">
                <a16:creationId xmlns:a16="http://schemas.microsoft.com/office/drawing/2014/main" id="{6819CA43-8674-F300-6E96-30E9C564A599}"/>
              </a:ext>
            </a:extLst>
          </p:cNvPr>
          <p:cNvSpPr txBox="1"/>
          <p:nvPr/>
        </p:nvSpPr>
        <p:spPr>
          <a:xfrm>
            <a:off x="12340358" y="4458828"/>
            <a:ext cx="4920657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lang="en-IE" sz="2400" i="1" dirty="0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To have a method of reliably finding the cheapest mission architecture for the given mission statement.</a:t>
            </a: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lang="en-IE" sz="2400" i="1" dirty="0">
                <a:solidFill>
                  <a:schemeClr val="lt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Prompt"/>
              </a:rPr>
              <a:t>To propose some new, interesting, and cheap mission architectures.</a:t>
            </a:r>
          </a:p>
          <a:p>
            <a:pPr marL="203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ingdings" panose="05000000000000000000" pitchFamily="2" charset="2"/>
              <a:buChar char="Ø"/>
            </a:pPr>
            <a:endParaRPr sz="2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grpSp>
        <p:nvGrpSpPr>
          <p:cNvPr id="16" name="Google Shape;134;p5">
            <a:extLst>
              <a:ext uri="{FF2B5EF4-FFF2-40B4-BE49-F238E27FC236}">
                <a16:creationId xmlns:a16="http://schemas.microsoft.com/office/drawing/2014/main" id="{07E9FCDE-99D7-DDA1-2BCD-A7A6A6A41C90}"/>
              </a:ext>
            </a:extLst>
          </p:cNvPr>
          <p:cNvGrpSpPr/>
          <p:nvPr/>
        </p:nvGrpSpPr>
        <p:grpSpPr>
          <a:xfrm>
            <a:off x="12015303" y="3395975"/>
            <a:ext cx="5406347" cy="915102"/>
            <a:chOff x="0" y="0"/>
            <a:chExt cx="7208463" cy="2325593"/>
          </a:xfrm>
        </p:grpSpPr>
        <p:sp>
          <p:nvSpPr>
            <p:cNvPr id="17" name="Google Shape;135;p5">
              <a:extLst>
                <a:ext uri="{FF2B5EF4-FFF2-40B4-BE49-F238E27FC236}">
                  <a16:creationId xmlns:a16="http://schemas.microsoft.com/office/drawing/2014/main" id="{1EE7097F-D90C-EE73-21F0-05AC4B2A684F}"/>
                </a:ext>
              </a:extLst>
            </p:cNvPr>
            <p:cNvSpPr/>
            <p:nvPr/>
          </p:nvSpPr>
          <p:spPr>
            <a:xfrm>
              <a:off x="0" y="0"/>
              <a:ext cx="7208463" cy="2325593"/>
            </a:xfrm>
            <a:custGeom>
              <a:avLst/>
              <a:gdLst/>
              <a:ahLst/>
              <a:cxnLst/>
              <a:rect l="l" t="t" r="r" b="b"/>
              <a:pathLst>
                <a:path w="3397874" h="1096222" extrusionOk="0">
                  <a:moveTo>
                    <a:pt x="3273414" y="1096222"/>
                  </a:moveTo>
                  <a:lnTo>
                    <a:pt x="124460" y="1096222"/>
                  </a:lnTo>
                  <a:cubicBezTo>
                    <a:pt x="55880" y="1096222"/>
                    <a:pt x="0" y="1040342"/>
                    <a:pt x="0" y="97176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73415" y="0"/>
                  </a:lnTo>
                  <a:cubicBezTo>
                    <a:pt x="3341994" y="0"/>
                    <a:pt x="3397874" y="55880"/>
                    <a:pt x="3397874" y="124460"/>
                  </a:cubicBezTo>
                  <a:lnTo>
                    <a:pt x="3397874" y="971762"/>
                  </a:lnTo>
                  <a:cubicBezTo>
                    <a:pt x="3397874" y="1040342"/>
                    <a:pt x="3341994" y="1096222"/>
                    <a:pt x="3273415" y="1096222"/>
                  </a:cubicBezTo>
                  <a:close/>
                </a:path>
              </a:pathLst>
            </a:custGeom>
            <a:solidFill>
              <a:srgbClr val="911B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18" name="Google Shape;136;p5">
              <a:extLst>
                <a:ext uri="{FF2B5EF4-FFF2-40B4-BE49-F238E27FC236}">
                  <a16:creationId xmlns:a16="http://schemas.microsoft.com/office/drawing/2014/main" id="{C19D4119-4CF1-CCAC-B779-7660412BE73F}"/>
                </a:ext>
              </a:extLst>
            </p:cNvPr>
            <p:cNvSpPr txBox="1"/>
            <p:nvPr/>
          </p:nvSpPr>
          <p:spPr>
            <a:xfrm>
              <a:off x="684069" y="320373"/>
              <a:ext cx="5840322" cy="1657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 i="0" u="none" strike="noStrike" cap="none" dirty="0">
                  <a:solidFill>
                    <a:srgbClr val="FFFFFF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Prompt"/>
                </a:rPr>
                <a:t>The Long </a:t>
              </a:r>
              <a:r>
                <a:rPr lang="en-US" sz="2600" b="1" dirty="0">
                  <a:solidFill>
                    <a:srgbClr val="FFFFFF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Prompt"/>
                </a:rPr>
                <a:t>Term </a:t>
              </a:r>
              <a:r>
                <a:rPr lang="en-US" sz="2600" b="1" i="0" u="none" strike="noStrike" cap="none" dirty="0">
                  <a:solidFill>
                    <a:srgbClr val="FFFFFF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Prompt"/>
                </a:rPr>
                <a:t>Goal</a:t>
              </a:r>
              <a:endParaRPr sz="2600" b="1" i="0" u="none" strike="noStrike" cap="none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028236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20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;p2">
            <a:extLst>
              <a:ext uri="{FF2B5EF4-FFF2-40B4-BE49-F238E27FC236}">
                <a16:creationId xmlns:a16="http://schemas.microsoft.com/office/drawing/2014/main" id="{321F7C6F-EBC7-E72B-7905-73A374A15A4C}"/>
              </a:ext>
            </a:extLst>
          </p:cNvPr>
          <p:cNvSpPr txBox="1"/>
          <p:nvPr/>
        </p:nvSpPr>
        <p:spPr>
          <a:xfrm>
            <a:off x="998220" y="838047"/>
            <a:ext cx="16102497" cy="1300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81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6. References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  <a:sym typeface="Arial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2EDEE974-4A4D-5637-C086-8F88D675B43C}"/>
              </a:ext>
            </a:extLst>
          </p:cNvPr>
          <p:cNvCxnSpPr/>
          <p:nvPr/>
        </p:nvCxnSpPr>
        <p:spPr>
          <a:xfrm>
            <a:off x="858983" y="2008909"/>
            <a:ext cx="1609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51471299-1CF6-3814-7DDD-91A28311A509}"/>
              </a:ext>
            </a:extLst>
          </p:cNvPr>
          <p:cNvSpPr txBox="1"/>
          <p:nvPr/>
        </p:nvSpPr>
        <p:spPr>
          <a:xfrm>
            <a:off x="998220" y="2413966"/>
            <a:ext cx="1652115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IE" sz="32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Arial"/>
              </a:rPr>
              <a:t>[1] </a:t>
            </a:r>
            <a:r>
              <a:rPr kumimoji="0" lang="en-IE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http://news.bbc.co.uk/2/hi/science/nature/8442090.stm</a:t>
            </a:r>
            <a:endParaRPr kumimoji="0" lang="en-IE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tabLst/>
              <a:defRPr/>
            </a:pPr>
            <a:endParaRPr kumimoji="0" lang="en-IE" sz="32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  <a:sym typeface="Arial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tabLst/>
              <a:defRPr/>
            </a:pPr>
            <a:r>
              <a:rPr kumimoji="0" lang="en-IE" sz="32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Arial"/>
              </a:rPr>
              <a:t>[2] </a:t>
            </a:r>
            <a:r>
              <a:rPr kumimoji="0" lang="en-IE" sz="32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https://goldprice.org/</a:t>
            </a:r>
            <a:endParaRPr kumimoji="0" lang="en-IE" sz="32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  <a:sym typeface="Arial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tabLst/>
              <a:defRPr/>
            </a:pPr>
            <a:endParaRPr lang="en-IE" sz="3200" dirty="0">
              <a:solidFill>
                <a:schemeClr val="bg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tabLst/>
              <a:defRPr/>
            </a:pPr>
            <a:r>
              <a:rPr lang="en-IE" sz="3200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[3] </a:t>
            </a:r>
            <a:r>
              <a:rPr lang="en-IE" sz="3200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https://ourworldindata.org/</a:t>
            </a:r>
            <a:r>
              <a:rPr lang="en-IE" sz="3200" dirty="0" err="1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grapher</a:t>
            </a:r>
            <a:r>
              <a:rPr lang="en-IE" sz="3200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IE" sz="3200" dirty="0" err="1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cost-space-launches-low-earth-orbit?time</a:t>
            </a:r>
            <a:r>
              <a:rPr lang="en-IE" sz="3200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=2001..latest</a:t>
            </a:r>
            <a:endParaRPr lang="en-IE" sz="3200" dirty="0">
              <a:solidFill>
                <a:schemeClr val="bg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tabLst/>
              <a:defRPr/>
            </a:pPr>
            <a:endParaRPr kumimoji="0" lang="en-IE" sz="32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  <a:sym typeface="Arial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tabLst/>
              <a:defRPr/>
            </a:pPr>
            <a:r>
              <a:rPr kumimoji="0" lang="en-IE" sz="32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Arial"/>
              </a:rPr>
              <a:t>[4] </a:t>
            </a:r>
            <a:r>
              <a:rPr kumimoji="0" lang="en-IE" sz="2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Arial"/>
              </a:rPr>
              <a:t>S. J. </a:t>
            </a:r>
            <a:r>
              <a:rPr kumimoji="0" lang="en-IE" sz="2800" b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Arial"/>
              </a:rPr>
              <a:t>Kapurch</a:t>
            </a:r>
            <a:r>
              <a:rPr kumimoji="0" lang="en-IE" sz="2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Arial"/>
              </a:rPr>
              <a:t>, NASA Systems </a:t>
            </a:r>
            <a:r>
              <a:rPr kumimoji="0" lang="en-IE" sz="2800" b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Arial"/>
              </a:rPr>
              <a:t>EngineeringHandbook</a:t>
            </a:r>
            <a:r>
              <a:rPr kumimoji="0" lang="en-IE" sz="2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Arial"/>
              </a:rPr>
              <a:t>, S. J. </a:t>
            </a:r>
            <a:r>
              <a:rPr kumimoji="0" lang="en-IE" sz="2800" b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Arial"/>
              </a:rPr>
              <a:t>Kapurch</a:t>
            </a:r>
            <a:r>
              <a:rPr kumimoji="0" lang="en-IE" sz="2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Arial"/>
              </a:rPr>
              <a:t>, Ed. Diane Publish-</a:t>
            </a:r>
            <a:r>
              <a:rPr kumimoji="0" lang="en-IE" sz="2800" b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Arial"/>
              </a:rPr>
              <a:t>ing</a:t>
            </a:r>
            <a:r>
              <a:rPr kumimoji="0" lang="en-IE" sz="2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  <a:sym typeface="Arial"/>
              </a:rPr>
              <a:t>, 2010.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tabLst/>
              <a:defRPr/>
            </a:pPr>
            <a:endParaRPr kumimoji="0" lang="en-IE" sz="2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  <a:sym typeface="Arial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tabLst/>
              <a:defRPr/>
            </a:pPr>
            <a:r>
              <a:rPr lang="en-IE" sz="2800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[5] </a:t>
            </a:r>
            <a:r>
              <a:rPr lang="en-US" sz="2800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C. de Paor, J. </a:t>
            </a:r>
            <a:r>
              <a:rPr lang="en-US" sz="2800" dirty="0" err="1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Rimani</a:t>
            </a:r>
            <a:r>
              <a:rPr lang="en-US" sz="2800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, and S. Lizy-</a:t>
            </a:r>
            <a:r>
              <a:rPr lang="en-US" sz="2800" dirty="0" err="1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Destrez</a:t>
            </a:r>
            <a:r>
              <a:rPr lang="en-US" sz="2800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,“Low-Cost Uncrewed Lunar Landers: Mis-</a:t>
            </a:r>
            <a:r>
              <a:rPr lang="en-US" sz="2800" dirty="0" err="1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sion</a:t>
            </a:r>
            <a:r>
              <a:rPr lang="en-US" sz="2800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Design and Preliminary Feasibility As-</a:t>
            </a:r>
            <a:r>
              <a:rPr lang="en-US" sz="2800" dirty="0" err="1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sessment</a:t>
            </a:r>
            <a:r>
              <a:rPr lang="en-US" sz="2800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”, Jul. 2023. DOI: 10 . 13009 /EUCASS2023-958.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tabLst/>
              <a:defRPr/>
            </a:pPr>
            <a:endParaRPr lang="en-IE" sz="2800" dirty="0">
              <a:solidFill>
                <a:schemeClr val="bg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tabLst/>
              <a:defRPr/>
            </a:pPr>
            <a:r>
              <a:rPr lang="en-IE" sz="2800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[6] </a:t>
            </a:r>
            <a:r>
              <a:rPr lang="en-US" sz="2800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C. de Paor and T. Gateau, “System design, sizing and costing of a </a:t>
            </a:r>
            <a:r>
              <a:rPr lang="en-US" sz="2800" dirty="0" err="1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respon-sive</a:t>
            </a:r>
            <a:r>
              <a:rPr lang="en-US" sz="2800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space system”, Alten, Internship </a:t>
            </a:r>
            <a:r>
              <a:rPr lang="en-US" sz="2800" dirty="0" err="1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Report,Oct</a:t>
            </a:r>
            <a:r>
              <a:rPr lang="en-US" sz="2800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. 2023</a:t>
            </a:r>
            <a:endParaRPr kumimoji="0" lang="en-IE" sz="32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0876734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20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8"/>
          <p:cNvSpPr/>
          <p:nvPr/>
        </p:nvSpPr>
        <p:spPr>
          <a:xfrm rot="1754742">
            <a:off x="-13397103" y="166729"/>
            <a:ext cx="26398651" cy="19487005"/>
          </a:xfrm>
          <a:custGeom>
            <a:avLst/>
            <a:gdLst/>
            <a:ahLst/>
            <a:cxnLst/>
            <a:rect l="l" t="t" r="r" b="b"/>
            <a:pathLst>
              <a:path w="26398651" h="19487005" extrusionOk="0">
                <a:moveTo>
                  <a:pt x="0" y="0"/>
                </a:moveTo>
                <a:lnTo>
                  <a:pt x="26398651" y="0"/>
                </a:lnTo>
                <a:lnTo>
                  <a:pt x="26398651" y="19487004"/>
                </a:lnTo>
                <a:lnTo>
                  <a:pt x="0" y="194870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04" name="Google Shape;404;p18"/>
          <p:cNvSpPr/>
          <p:nvPr/>
        </p:nvSpPr>
        <p:spPr>
          <a:xfrm>
            <a:off x="13837589" y="8312639"/>
            <a:ext cx="2518299" cy="1526088"/>
          </a:xfrm>
          <a:custGeom>
            <a:avLst/>
            <a:gdLst/>
            <a:ahLst/>
            <a:cxnLst/>
            <a:rect l="l" t="t" r="r" b="b"/>
            <a:pathLst>
              <a:path w="1712453" h="1037746" extrusionOk="0">
                <a:moveTo>
                  <a:pt x="0" y="0"/>
                </a:moveTo>
                <a:lnTo>
                  <a:pt x="1712453" y="0"/>
                </a:lnTo>
                <a:lnTo>
                  <a:pt x="1712453" y="1037747"/>
                </a:lnTo>
                <a:lnTo>
                  <a:pt x="0" y="1037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05" name="Google Shape;405;p18"/>
          <p:cNvSpPr txBox="1"/>
          <p:nvPr/>
        </p:nvSpPr>
        <p:spPr>
          <a:xfrm>
            <a:off x="1120588" y="1445250"/>
            <a:ext cx="1340798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36111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 txBox="1"/>
          <p:nvPr/>
        </p:nvSpPr>
        <p:spPr>
          <a:xfrm>
            <a:off x="1120588" y="3301535"/>
            <a:ext cx="16138712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Thank you!</a:t>
            </a:r>
            <a:endParaRPr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dirty="0">
                <a:solidFill>
                  <a:srgbClr val="FFFFFF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Questions</a:t>
            </a:r>
            <a:endParaRPr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9CD4A11-0364-1C51-79A2-5CE88B98B3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65820" y="7375747"/>
            <a:ext cx="1822180" cy="2692286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20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17131197" y="9572211"/>
            <a:ext cx="6805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000" dirty="0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12</a:t>
            </a:r>
          </a:p>
        </p:txBody>
      </p:sp>
      <p:sp>
        <p:nvSpPr>
          <p:cNvPr id="2" name="Google Shape;96;p2">
            <a:extLst>
              <a:ext uri="{FF2B5EF4-FFF2-40B4-BE49-F238E27FC236}">
                <a16:creationId xmlns:a16="http://schemas.microsoft.com/office/drawing/2014/main" id="{321F7C6F-EBC7-E72B-7905-73A374A15A4C}"/>
              </a:ext>
            </a:extLst>
          </p:cNvPr>
          <p:cNvSpPr txBox="1"/>
          <p:nvPr/>
        </p:nvSpPr>
        <p:spPr>
          <a:xfrm>
            <a:off x="998220" y="838047"/>
            <a:ext cx="16102497" cy="1300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81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Prompt"/>
              </a:rPr>
              <a:t>Appendix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2EDEE974-4A4D-5637-C086-8F88D675B43C}"/>
              </a:ext>
            </a:extLst>
          </p:cNvPr>
          <p:cNvCxnSpPr/>
          <p:nvPr/>
        </p:nvCxnSpPr>
        <p:spPr>
          <a:xfrm>
            <a:off x="858983" y="2008909"/>
            <a:ext cx="1609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3A35A979-A59F-0117-9B64-F862B9426D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334"/>
          <a:stretch/>
        </p:blipFill>
        <p:spPr>
          <a:xfrm>
            <a:off x="858983" y="2443563"/>
            <a:ext cx="7907985" cy="5834528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4F4B7DE-DAEA-3909-FA69-610F2F59E1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92" t="679" b="1810"/>
          <a:stretch/>
        </p:blipFill>
        <p:spPr bwMode="auto">
          <a:xfrm>
            <a:off x="9231045" y="2443563"/>
            <a:ext cx="6681224" cy="586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5319750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47211</TotalTime>
  <Words>981</Words>
  <Application>Microsoft Office PowerPoint</Application>
  <PresentationFormat>Custom</PresentationFormat>
  <Paragraphs>152</Paragraphs>
  <Slides>15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Cambria Math</vt:lpstr>
      <vt:lpstr>Arial</vt:lpstr>
      <vt:lpstr>CMU Sans Serif</vt:lpstr>
      <vt:lpstr>Calibri</vt:lpstr>
      <vt:lpstr>Prompt Light</vt:lpstr>
      <vt:lpstr>CMU Serif</vt:lpstr>
      <vt:lpstr>Wingdings</vt:lpstr>
      <vt:lpstr>Office Theme</vt:lpstr>
      <vt:lpstr>Thème Office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Conall DE PAOR</dc:creator>
  <cp:lastModifiedBy>Conall de Paor</cp:lastModifiedBy>
  <cp:revision>48</cp:revision>
  <dcterms:created xsi:type="dcterms:W3CDTF">2006-08-16T00:00:00Z</dcterms:created>
  <dcterms:modified xsi:type="dcterms:W3CDTF">2024-10-17T22:22:31Z</dcterms:modified>
</cp:coreProperties>
</file>